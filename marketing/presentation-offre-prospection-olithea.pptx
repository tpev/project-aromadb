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toutes et à tous, et merci à [NOM DE L'INTERVENANTE OU DU CHALLENGE] de nous accueillir.</a:t>
            </a:r>
          </a:p>
          <a:p/>
          <a:p>
            <a:r>
              <a:t>Nous sommes [PRÉNOM 1] et [PRÉNOM 2], derrière Olithea, une plateforme conçue pour aider les praticiens à gérer et à développer leur activité.</a:t>
            </a:r>
          </a:p>
          <a:p/>
          <a:p>
            <a:r>
              <a:t>Pendant ces trois jours, vous apprenez à créer de l'attention et de la confiance sur Instagram. Notre question commence juste après : que se passe-t-il lorsqu'une personne clique, s'intéresse à votre approche ou souhaite aller plus loin ?</a:t>
            </a:r>
          </a:p>
          <a:p/>
          <a:p>
            <a:r>
              <a:t>En 20 minutes, nous allons vous montrer comment proposer la bonne prochaine étape à chaque personne, sans rendre votre organisation plus compliquée.</a:t>
            </a:r>
          </a:p>
          <a:p/>
          <a:p>
            <a:r>
              <a:t>Consigne d'animation</a:t>
            </a:r>
          </a:p>
          <a:p/>
          <a:p>
            <a:r>
              <a:t>Parler calmement. Ne pas raconter l'histoire de l'entreprise. La présentation d'Olithea tient volontairement en une phrase.</a:t>
            </a:r>
          </a:p>
          <a:p/>
          <a:p>
            <a:r>
              <a:t>Transition</a:t>
            </a:r>
          </a:p>
          <a:p/>
          <a:p>
            <a:r>
              <a:t>Pour comprendre le problème, imaginons deux personnes qui découvrent exactement la même praticienne aujourd'hui.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Claire. Une amie lui a recommandé une sophrologue. Claire connaît déjà son besoin. Ce qu'elle cherche maintenant, ce sont des réponses très concrètes : est-ce que cette praticienne accompagne ce type de situation ? Combien de temps dure la séance ? Quel est le tarif ? Est-ce possible en visio ? Et surtout : quel créneau est disponible ?</a:t>
            </a:r>
          </a:p>
          <a:p/>
          <a:p>
            <a:r>
              <a:t>À côté, voici Sophie. Elle vient de voir une publication Instagram sur la difficulté à déconnecter le soir. Elle se reconnaît, mais elle ne connaît pas encore la praticienne. Lui demander immédiatement de réserver une séance peut être trop rapide. Elle a d'abord besoin de comprendre l'approche et de recevoir une première valeur.</a:t>
            </a:r>
          </a:p>
          <a:p/>
          <a:p>
            <a:r>
              <a:t>L'erreur fréquente consiste à proposer exactement le même bouton aux deux personnes. Si tout le monde doit télécharger un guide, Claire est ralentie. Si tout le monde doit prendre rendez-vous immédiatement, Sophie repart.</a:t>
            </a:r>
          </a:p>
          <a:p/>
          <a:p>
            <a:r>
              <a:t>La prospection consiste donc moins à pousser une offre qu'à proposer la bonne prochaine étape.</a:t>
            </a:r>
          </a:p>
          <a:p/>
          <a:p>
            <a:r>
              <a:t>Interaction facultative</a:t>
            </a:r>
          </a:p>
          <a:p/>
          <a:p>
            <a:r>
              <a:t>Demander dans le chat :</a:t>
            </a:r>
          </a:p>
          <a:p/>
          <a:p>
            <a:r>
              <a:t>Aujourd'hui, votre lien Instagram conduit-il directement vers un rendez-vous, vers une ressource, ou vers une page qui propose beaucoup de choix ?</a:t>
            </a:r>
          </a:p>
          <a:p/>
          <a:p>
            <a:r>
              <a:t>Ne pas attendre toutes les réponses. Lire une ou deux réactions seulement.</a:t>
            </a:r>
          </a:p>
          <a:p/>
          <a:p>
            <a:r>
              <a:t>Transition</a:t>
            </a:r>
          </a:p>
          <a:p/>
          <a:p>
            <a:r>
              <a:t>Mais avant de construire ces deux chemins, il faut leur donner une destination : une offre claire.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offre n'est pas simplement : « Je propose des séances de sophrologie de 60 minutes à 60 euros. » Cette phrase décrit une prestation, mais elle n'aide pas encore la personne à savoir si elle est concernée.</a:t>
            </a:r>
          </a:p>
          <a:p/>
          <a:p>
            <a:r>
              <a:t>Une offre claire répond à cinq questions : à qui s'adresse-t-elle ? Dans quelle situation se trouve cette personne ? Vers quel objectif réaliste l'accompagne-t-on ? Comment se déroule l'accompagnement ? Et quelle est la première étape ?</a:t>
            </a:r>
          </a:p>
          <a:p/>
          <a:p>
            <a:r>
              <a:t>Vous pouvez utiliser cette phrase :</a:t>
            </a:r>
          </a:p>
          <a:p/>
          <a:p>
            <a:r>
              <a:t>J'accompagne [TYPE DE PERSONNE] qui rencontre [SITUATION PRÉCISE] à aller vers [OBJECTIF RÉALISTE], grâce à [FORME D'ACCOMPAGNEMENT], avec comme première étape [ACTION SIMPLE].</a:t>
            </a:r>
          </a:p>
          <a:p/>
          <a:p>
            <a:r>
              <a:t>Par exemple : « J'accompagne les femmes actives qui n'arrivent plus à déconnecter le soir à retrouver des repères plus apaisants, avec un bilan individuel puis un accompagnement adapté. La première étape est un échange de 45 minutes pour comprendre leur situation. »</a:t>
            </a:r>
          </a:p>
          <a:p/>
          <a:p>
            <a:r>
              <a:t>La formulation ne promet pas un résultat garanti. Elle permet simplement à la bonne personne de se reconnaître et de comprendre la suite.</a:t>
            </a:r>
          </a:p>
          <a:p/>
          <a:p>
            <a:r>
              <a:t>Prenez quelques secondes pour vous poser cette question : est-ce qu'une personne qui ne connaît pas votre métier comprend votre offre sans explication supplémentaire ?</a:t>
            </a:r>
          </a:p>
          <a:p/>
          <a:p>
            <a:r>
              <a:t>Consigne d'animation</a:t>
            </a:r>
          </a:p>
          <a:p/>
          <a:p>
            <a:r>
              <a:t>Marquer une pause de trois secondes après la question finale.</a:t>
            </a:r>
          </a:p>
          <a:p/>
          <a:p>
            <a:r>
              <a:t>Transition</a:t>
            </a:r>
          </a:p>
          <a:p/>
          <a:p>
            <a:r>
              <a:t>Lorsque l'offre est claire, nous pouvons construire le premier chemin : celui de Claire, qui est déjà prête.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Claire est prête. Elle peut arriver par une recommandation, une recherche Google, un avis ou un contenu Instagram. Elle n'a pas besoin de recevoir cinq courriels avant de voir l'agenda.</a:t>
            </a:r>
          </a:p>
          <a:p/>
          <a:p>
            <a:r>
              <a:t>Elle a besoin d'un portail public qui répond rapidement à ses questions : qui est la praticienne ? Quelles prestations propose-t-elle ? À qui s'adressent-elles ? Quel est le tarif ? Quelle est la durée ? Le rendez-vous se déroule-t-il au cabinet, à domicile ou en visio ? Et quelles sont les disponibilités ?</a:t>
            </a:r>
          </a:p>
          <a:p/>
          <a:p>
            <a:r>
              <a:t>Le bouton de réservation doit être facile à trouver. Le parcours doit comporter le moins de détours inutiles possible. Quand une personne est prête, ajouter des étapes ne crée pas davantage de confiance ; cela peut simplement lui donner une occasion d'abandonner.</a:t>
            </a:r>
          </a:p>
          <a:p/>
          <a:p>
            <a:r>
              <a:t>Mais la prise de rendez-vous n'est pas la fin du parcours. Une fois le créneau choisi, le travail continue : confirmation, rappels, rendez-vous dans l'agenda, informations du client, puis, selon la pratique, note de séance, paiement, facture et suivi.</a:t>
            </a:r>
          </a:p>
          <a:p/>
          <a:p>
            <a:r>
              <a:t>C'est un point important : l'expérience commerciale et l'expérience professionnelle ne sont pas deux mondes séparés. La promesse faite avant le rendez-vous doit se prolonger dans une organisation claire après la réservation.</a:t>
            </a:r>
          </a:p>
          <a:p/>
          <a:p>
            <a:r>
              <a:t>La règle à retenir est simple :</a:t>
            </a:r>
          </a:p>
          <a:p/>
          <a:p>
            <a:r>
              <a:t>Quand une personne est prête, le rôle du parcours est de ne pas la ralentir.</a:t>
            </a:r>
          </a:p>
          <a:p/>
          <a:p>
            <a:r>
              <a:t>Transition</a:t>
            </a:r>
          </a:p>
          <a:p/>
          <a:p>
            <a:r>
              <a:t>Sophie, en revanche, n'a pas encore besoin d'un agenda. Elle a besoin d'une raison de faire un premier petit pas.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Sophie s'est reconnue dans un contenu, mais elle n'est pas prête à réserver. Cela ne veut pas dire qu'elle n'est pas intéressée. Cela signifie simplement que l'étape demandée est encore trop grande.</a:t>
            </a:r>
          </a:p>
          <a:p/>
          <a:p>
            <a:r>
              <a:t>On peut alors lui proposer une ressource gratuite, parfois appelée « lead magnet ». Cela peut être un guide court, un audio, une liste de vérification, un mini-questionnaire ou l'inscription à un atelier découverte.</a:t>
            </a:r>
          </a:p>
          <a:p/>
          <a:p>
            <a:r>
              <a:t>Cette ressource ne doit pas être choisie au hasard. Elle doit être directement reliée à l'offre. Si l'offre concerne un accompagnement autour du sommeil, la ressource peut aider la personne à repérer ce qui entretient son agitation du soir. Si l'offre concerne la préparation mentale, la ressource peut proposer une courte routine avant un moment important.</a:t>
            </a:r>
          </a:p>
          <a:p/>
          <a:p>
            <a:r>
              <a:t>Une bonne ressource gratuite remplit trois fonctions : elle parle d'un problème précis, elle donne une première valeur rapidement et elle permet à la personne de comprendre naturellement ce que pourrait être la prochaine étape.</a:t>
            </a:r>
          </a:p>
          <a:p/>
          <a:p>
            <a:r>
              <a:t>Elle n'est pas là pour cacher une vente derrière un cadeau. Elle permet à Sophie de découvrir la manière de travailler de la praticienne sans lui demander un engagement trop important.</a:t>
            </a:r>
          </a:p>
          <a:p/>
          <a:p>
            <a:r>
              <a:t>La règle à retenir est donc :</a:t>
            </a:r>
          </a:p>
          <a:p/>
          <a:p>
            <a:r>
              <a:t>Quand une personne n'est pas encore prête, proposez une étape utile avant de proposer une étape engageante.</a:t>
            </a:r>
          </a:p>
          <a:p/>
          <a:p>
            <a:r>
              <a:t>Transition</a:t>
            </a:r>
          </a:p>
          <a:p/>
          <a:p>
            <a:r>
              <a:t>La ressource crée le premier contact. Le suivi transforme ensuite ce contact ponctuel en relation.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ici qu'intervient le tunnel de vente. Le terme peut sembler très commercial, mais le principe est simple : un tunnel est seulement un chemin organisé entre l'intérêt initial et la prochaine action.</a:t>
            </a:r>
          </a:p>
          <a:p/>
          <a:p>
            <a:r>
              <a:t>Pour un praticien, ce chemin peut rester très court.</a:t>
            </a:r>
          </a:p>
          <a:p/>
          <a:p>
            <a:r>
              <a:t>Premier élément : une page consacrée à un seul sujet. Elle explique à qui s'adresse la ressource, ce que la personne va y trouver et ce qu'elle peut faire ensuite.</a:t>
            </a:r>
          </a:p>
          <a:p/>
          <a:p>
            <a:r>
              <a:t>Deuxième élément : un formulaire simple avec un consentement clair lorsque des communications de suivi sont proposées.</a:t>
            </a:r>
          </a:p>
          <a:p/>
          <a:p>
            <a:r>
              <a:t>Troisième élément : une courte suite de courriels. Il n'est pas nécessaire d'en écrire quinze. Trois messages peuvent suffire pour commencer.</a:t>
            </a:r>
          </a:p>
          <a:p/>
          <a:p>
            <a:r>
              <a:t>• Le premier remet la ressource et aide à obtenir un petit résultat.</a:t>
            </a:r>
          </a:p>
          <a:p>
            <a:r>
              <a:t>• Le deuxième explique une difficulté fréquente ou répond à une question.</a:t>
            </a:r>
          </a:p>
          <a:p>
            <a:r>
              <a:t>• Le troisième présente la prochaine étape : un atelier, un bilan ou une séance.</a:t>
            </a:r>
          </a:p>
          <a:p/>
          <a:p>
            <a:r>
              <a:t>Quatrième élément : la newsletter. Tout le monde ne réserve pas le jour où il découvre votre travail. Une newsletter utile permet de maintenir la relation avec les personnes qui ont choisi de la recevoir.</a:t>
            </a:r>
          </a:p>
          <a:p/>
          <a:p>
            <a:r>
              <a:t>Une newsletter n'a pas besoin d'être longue. Elle peut contenir une situation dans laquelle le lecteur se reconnaît, une idée ou un conseil utile, puis une seule invitation : lire une ressource, participer à un atelier ou consulter une offre.</a:t>
            </a:r>
          </a:p>
          <a:p/>
          <a:p>
            <a:r>
              <a:t>La différence entre les courriels automatiques et la newsletter est importante : les premiers accompagnent une action précise, par exemple le téléchargement d'une ressource ; la newsletter entretient la relation dans la durée.</a:t>
            </a:r>
          </a:p>
          <a:p/>
          <a:p>
            <a:r>
              <a:t>Ce système évite de recommencer votre prospection à zéro après chaque publication. Votre contenu crée l'attention ; la ressource crée le premier contact ; les courriels apportent de la valeur ; l'offre donne une direction.</a:t>
            </a:r>
          </a:p>
          <a:p/>
          <a:p>
            <a:r>
              <a:t>Phrase à accentuer</a:t>
            </a:r>
          </a:p>
          <a:p/>
          <a:p>
            <a:r>
              <a:t>Une mauvaise ressource gratuite attire des curieux. Une bonne ressource attire les personnes concernées par votre offre.</a:t>
            </a:r>
          </a:p>
          <a:p/>
          <a:p>
            <a:r>
              <a:t>Transition</a:t>
            </a:r>
          </a:p>
          <a:p/>
          <a:p>
            <a:r>
              <a:t>Nous avons maintenant deux portes d'entrée. Voyons comment elles peuvent fonctionner sans multiplier les outils.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problème n'est donc pas de choisir entre la prise de rendez-vous directe et le tunnel de vente. Les deux répondent à deux moments différents.</a:t>
            </a:r>
          </a:p>
          <a:p/>
          <a:p>
            <a:r>
              <a:t>La personne prête rejoint directement le portail public et l'agenda. La personne encore en réflexion reçoit une ressource, entre dans un suivi adapté, puis rejoint le même portail lorsqu'elle est prête.</a:t>
            </a:r>
          </a:p>
          <a:p/>
          <a:p>
            <a:r>
              <a:t>Il est possible d'assembler cela avec une page de site, un outil de formulaire, un logiciel de courriels, un agenda, un fichier de contacts et un outil de facturation. Mais chaque raccord ajoute du travail et un risque d'oubli.</a:t>
            </a:r>
          </a:p>
          <a:p/>
          <a:p>
            <a:r>
              <a:t>Avec Olithea, notre objectif est de garder ces deux parcours reliés au quotidien réel du praticien. Nous allons maintenant vous le montrer avec Claire et Sophie.</a:t>
            </a:r>
          </a:p>
          <a:p/>
          <a:p>
            <a:r>
              <a:t>Passage de relais</a:t>
            </a:r>
          </a:p>
          <a:p/>
          <a:p>
            <a:r>
              <a:t>Intervenant A :</a:t>
            </a:r>
          </a:p>
          <a:p/>
          <a:p>
            <a:r>
              <a:t>[PRÉNOM 2], je te laisse nous montrer concrètement ce qui se passe après le clic.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13:00–14:25 — Claire, prête à réserver</a:t>
            </a:r>
          </a:p>
          <a:p/>
          <a:p>
            <a:r>
              <a:t>Action : ouvrir le portail public de la praticienne de démonstration.</a:t>
            </a:r>
          </a:p>
          <a:p/>
          <a:p>
            <a:r>
              <a:t>Voici le portail public de notre praticienne de démonstration. Claire peut retrouver sa présentation, ses prestations et les informations qui lui permettent de choisir.</a:t>
            </a:r>
          </a:p>
          <a:p/>
          <a:p>
            <a:r>
              <a:t>Action : faire défiler brièvement jusqu'à la prestation « Séance découverte sommeil ».</a:t>
            </a:r>
          </a:p>
          <a:p/>
          <a:p>
            <a:r>
              <a:t>Elle consulte une offre précise, puis elle clique sur « Réserver ». Elle accède aux disponibilités correspondant à cette praticienne et à cette prestation.</a:t>
            </a:r>
          </a:p>
          <a:p/>
          <a:p>
            <a:r>
              <a:t>Action : montrer le choix de prestation et de créneau sans terminer une vraie réservation en production.</a:t>
            </a:r>
          </a:p>
          <a:p/>
          <a:p>
            <a:r>
              <a:t>Une fois le rendez-vous confirmé, il arrive dans l'agenda. Les confirmations et rappels sont gérés, et le praticien retrouve ensuite les actions utiles autour du rendez-vous.</a:t>
            </a:r>
          </a:p>
          <a:p/>
          <a:p>
            <a:r>
              <a:t>Action : ouvrir un rendez-vous de démonstration déjà créé. Montrer rapidement les accès à la note de séance et à la facturation, sans ouvrir de donnée clinique.</a:t>
            </a:r>
          </a:p>
          <a:p/>
          <a:p>
            <a:r>
              <a:t>Claire a donc pu passer de la recommandation au rendez-vous sans être envoyée vers plusieurs outils.</a:t>
            </a:r>
          </a:p>
          <a:p/>
          <a:p>
            <a:r>
              <a:t>14:25–16:35 — Sophie, encore en réflexion</a:t>
            </a:r>
          </a:p>
          <a:p/>
          <a:p>
            <a:r>
              <a:t>Action : ouvrir le lien de campagne Instagram du parcours d'offre.</a:t>
            </a:r>
          </a:p>
          <a:p/>
          <a:p>
            <a:r>
              <a:t>Sophie arrive depuis un contenu Instagram, mais elle n'est pas encore prête à réserver. Elle arrive donc sur une page consacrée à un seul sujet. La page explique à qui s'adresse la ressource, ce qu'elle contient et la prochaine étape.</a:t>
            </a:r>
          </a:p>
          <a:p/>
          <a:p>
            <a:r>
              <a:t>Action : montrer le formulaire et la ressource gratuite. Utiliser uniquement des données de test.</a:t>
            </a:r>
          </a:p>
          <a:p/>
          <a:p>
            <a:r>
              <a:t>Lorsqu'elle remplit le formulaire, Sophie devient un contact intéressé. Olithea conserve l'origine de la demande : ici, la campagne Instagram du challenge.</a:t>
            </a:r>
          </a:p>
          <a:p/>
          <a:p>
            <a:r>
              <a:t>Action : ouvrir la fiche de contact de démonstration. Montrer l'origine, l'étape de suivi et une tâche, sans information médicale.</a:t>
            </a:r>
          </a:p>
          <a:p/>
          <a:p>
            <a:r>
              <a:t>La ressource peut lui être transmise et une suite de messages peut l'accompagner. Le praticien peut voir les messages prévus, tester leur déroulement et garder le contrôle sur ce qui est envoyé.</a:t>
            </a:r>
          </a:p>
          <a:p/>
          <a:p>
            <a:r>
              <a:t>Action : ouvrir la vue « Messages de suivi » ou la campagne de courriels. Montrer les étapes, pas les réglages techniques.</a:t>
            </a:r>
          </a:p>
          <a:p/>
          <a:p>
            <a:r>
              <a:t>Sophie peut ensuite recevoir la newsletter si elle a choisi de la recevoir. Lorsqu'elle est prête, le bouton de l'offre la conduit vers le même portail public et le même agenda que Claire.</a:t>
            </a:r>
          </a:p>
          <a:p/>
          <a:p>
            <a:r>
              <a:t>16:35–17:00 — Synthèse</a:t>
            </a:r>
          </a:p>
          <a:p/>
          <a:p>
            <a:r>
              <a:t>Action : revenir à la diapositive ou à une vue récapitulative.</a:t>
            </a:r>
          </a:p>
          <a:p/>
          <a:p>
            <a:r>
              <a:t>Deux personnes, deux niveaux de décision, deux portes d'entrée. Mais derrière, le praticien retrouve ses contacts, ses communications, ses rendez-vous, ses dossiers et sa facturation dans le même environnement.</a:t>
            </a:r>
          </a:p>
          <a:p/>
          <a:p>
            <a:r>
              <a:t>Olithea ne crée pas l'intérêt à votre place. En revanche, lorsqu'une personne manifeste cet intérêt, Olithea lui donne un chemin clair et vous aide à ne pas la perdre entre plusieurs outils.</a:t>
            </a:r>
          </a:p>
          <a:p/>
          <a:p>
            <a:r>
              <a:t>Passage de relais</a:t>
            </a:r>
          </a:p>
          <a:p/>
          <a:p>
            <a:r>
              <a:t>Intervenant B :</a:t>
            </a:r>
          </a:p>
          <a:p/>
          <a:p>
            <a:r>
              <a:t>Maintenant que vous avez vu les deux parcours, voici ce que vous pouvez mettre en place dès cette semaine.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Vous n'avez pas besoin de reconstruire toute votre communication demain matin. Commencez avec une seule offre.</a:t>
            </a:r>
          </a:p>
          <a:p/>
          <a:p>
            <a:r>
              <a:t>Premièrement, écrivez-la avec les cinq éléments vus aujourd'hui : la personne, sa situation, l'objectif, le format et la première étape.</a:t>
            </a:r>
          </a:p>
          <a:p/>
          <a:p>
            <a:r>
              <a:t>Deuxièmement, dessinez deux chemins. Pour la personne prête : un accès simple à la présentation de l'offre et à la réservation. Pour la personne encore en réflexion : une ressource directement reliée à cette même offre.</a:t>
            </a:r>
          </a:p>
          <a:p/>
          <a:p>
            <a:r>
              <a:t>Troisièmement, regardez votre lien Instagram comme si vous ne connaissiez pas votre activité. Est-ce que ces deux choix sont compréhensibles ? Ou est-ce que la personne arrive sur une page comportant dix liens sans savoir lequel choisir ?</a:t>
            </a:r>
          </a:p>
          <a:p/>
          <a:p>
            <a:r>
              <a:t>Si vous ne retenez qu'une seule action, retenez celle-ci : proposez une prochaine étape aux personnes prêtes et une première petite étape aux personnes qui ont encore besoin de vous découvrir.</a:t>
            </a:r>
          </a:p>
          <a:p/>
          <a:p>
            <a:r>
              <a:t>Transition</a:t>
            </a:r>
          </a:p>
          <a:p/>
          <a:p>
            <a:r>
              <a:t>Pour vous aider à le faire, nous avons préparé exactement le canevas utilisé aujourd'hui.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vous partageons dans le chat un canevas intitulé « Construire ses deux parcours en 15 minutes ». Il vous aidera à clarifier votre offre, choisir une idée de ressource gratuite et dessiner les deux prochaines étapes.</a:t>
            </a:r>
          </a:p>
          <a:p/>
          <a:p>
            <a:r>
              <a:t>Et le lien que vous allez ouvrir est lui-même une page créée dans Olithea. Vous pourrez donc vivre le parcours que nous venons de vous montrer : découvrir une proposition claire, recevoir une ressource puis choisir librement la suite.</a:t>
            </a:r>
          </a:p>
          <a:p/>
          <a:p>
            <a:r>
              <a:t>Certaines personnes sont prêtes aujourd'hui : facilitez leur rendez-vous. D'autres ont besoin de temps : apportez-leur de la valeur et entretenez la relation.</a:t>
            </a:r>
          </a:p>
          <a:p/>
          <a:p>
            <a:r>
              <a:t>Votre communication crée l'attention. Votre offre donne une direction. Olithea relie ce parcours à votre activité quotidienne.</a:t>
            </a:r>
          </a:p>
          <a:p/>
          <a:p>
            <a:r>
              <a:t>Merci à toutes et à tous.</a:t>
            </a:r>
          </a:p>
          <a:p/>
          <a:p>
            <a:r>
              <a:t>Variante si une offre commerciale est prévue</a:t>
            </a:r>
          </a:p>
          <a:p/>
          <a:p>
            <a:r>
              <a:t>Ajouter seulement après la ressource gratuite :</a:t>
            </a:r>
          </a:p>
          <a:p/>
          <a:p>
            <a:r>
              <a:t>Si vous souhaitez voir comment mettre ces deux parcours en place dans votre propre activité, vous trouverez également [OFFRE COMMERCIALE ÉVENTUELLE]. Cette étape reste entièrement facultative.</a:t>
            </a:r>
          </a:p>
          <a:p/>
          <a:p>
            <a:r>
              <a:t>Ne pas remplacer la ressource utile par une demande de démonstration directe.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3B24"/>
        </a:solidFill>
        <a:effectLst/>
      </p:bgPr>
    </p:bg>
    <p:spTree>
      <p:nvGrpSpPr>
        <p:cNvPr id="1" name=""/>
        <p:cNvGrpSpPr/>
        <p:nvPr/>
      </p:nvGrpSpPr>
      <p:grpSpPr/>
      <p:sp>
        <p:nvSpPr>
          <p:cNvPr id="2" name="Rounded Rectangle 1"/>
          <p:cNvSpPr/>
          <p:nvPr/>
        </p:nvSpPr>
        <p:spPr>
          <a:xfrm>
            <a:off x="640080" y="384048"/>
            <a:ext cx="2240279" cy="749808"/>
          </a:xfrm>
          <a:prstGeom prst="roundRect">
            <a:avLst/>
          </a:prstGeom>
          <a:solidFill>
            <a:srgbClr val="F7F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lithea-logo-horizontal-accent-cropped.png"/>
          <p:cNvPicPr>
            <a:picLocks noChangeAspect="1"/>
          </p:cNvPicPr>
          <p:nvPr/>
        </p:nvPicPr>
        <p:blipFill>
          <a:blip r:embed="rId2"/>
          <a:stretch>
            <a:fillRect/>
          </a:stretch>
        </p:blipFill>
        <p:spPr>
          <a:xfrm>
            <a:off x="777240" y="458852"/>
            <a:ext cx="1965960" cy="600199"/>
          </a:xfrm>
          <a:prstGeom prst="rect">
            <a:avLst/>
          </a:prstGeom>
        </p:spPr>
      </p:pic>
      <p:sp>
        <p:nvSpPr>
          <p:cNvPr id="4" name="Rounded Rectangle 3"/>
          <p:cNvSpPr/>
          <p:nvPr/>
        </p:nvSpPr>
        <p:spPr>
          <a:xfrm>
            <a:off x="749808" y="1417320"/>
            <a:ext cx="2514600" cy="384048"/>
          </a:xfrm>
          <a:prstGeom prst="roundRect">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417320"/>
            <a:ext cx="2514600" cy="384048"/>
          </a:xfrm>
          <a:prstGeom prst="rect">
            <a:avLst/>
          </a:prstGeom>
          <a:noFill/>
        </p:spPr>
        <p:txBody>
          <a:bodyPr wrap="square" lIns="0" rIns="0" tIns="0" bIns="0" anchor="ctr">
            <a:spAutoFit/>
          </a:bodyPr>
          <a:lstStyle/>
          <a:p>
            <a:pPr algn="ctr"/>
            <a:r>
              <a:rPr sz="900" b="1">
                <a:solidFill>
                  <a:srgbClr val="FFFFFF"/>
                </a:solidFill>
                <a:latin typeface="Aptos"/>
              </a:rPr>
              <a:t>20 MIN • POUR LES PRATICIENS</a:t>
            </a:r>
          </a:p>
        </p:txBody>
      </p:sp>
      <p:sp>
        <p:nvSpPr>
          <p:cNvPr id="6" name="TextBox 5"/>
          <p:cNvSpPr txBox="1"/>
          <p:nvPr/>
        </p:nvSpPr>
        <p:spPr>
          <a:xfrm>
            <a:off x="713232" y="1874519"/>
            <a:ext cx="5669280" cy="1691640"/>
          </a:xfrm>
          <a:prstGeom prst="rect">
            <a:avLst/>
          </a:prstGeom>
          <a:noFill/>
        </p:spPr>
        <p:txBody>
          <a:bodyPr wrap="square" lIns="0" rIns="0" tIns="0" bIns="0" anchor="t">
            <a:spAutoFit/>
          </a:bodyPr>
          <a:lstStyle/>
          <a:p>
            <a:pPr algn="l"/>
            <a:r>
              <a:rPr sz="4200" b="1">
                <a:solidFill>
                  <a:srgbClr val="FFFFFF"/>
                </a:solidFill>
                <a:latin typeface="Aptos Display"/>
              </a:rPr>
              <a:t>Une offre.
Deux parcours.</a:t>
            </a:r>
          </a:p>
        </p:txBody>
      </p:sp>
      <p:sp>
        <p:nvSpPr>
          <p:cNvPr id="7" name="TextBox 6"/>
          <p:cNvSpPr txBox="1"/>
          <p:nvPr/>
        </p:nvSpPr>
        <p:spPr>
          <a:xfrm>
            <a:off x="749808" y="3794760"/>
            <a:ext cx="5212080" cy="502920"/>
          </a:xfrm>
          <a:prstGeom prst="rect">
            <a:avLst/>
          </a:prstGeom>
          <a:noFill/>
        </p:spPr>
        <p:txBody>
          <a:bodyPr wrap="square" lIns="0" rIns="0" tIns="0" bIns="0" anchor="t">
            <a:spAutoFit/>
          </a:bodyPr>
          <a:lstStyle/>
          <a:p>
            <a:pPr algn="l"/>
            <a:r>
              <a:rPr sz="2100" b="0">
                <a:solidFill>
                  <a:srgbClr val="EEF3DD"/>
                </a:solidFill>
                <a:latin typeface="Aptos"/>
              </a:rPr>
              <a:t>De la découverte au rendez-vous</a:t>
            </a:r>
          </a:p>
        </p:txBody>
      </p:sp>
      <p:sp>
        <p:nvSpPr>
          <p:cNvPr id="8" name="TextBox 7"/>
          <p:cNvSpPr txBox="1"/>
          <p:nvPr/>
        </p:nvSpPr>
        <p:spPr>
          <a:xfrm>
            <a:off x="749808" y="4608576"/>
            <a:ext cx="3657600" cy="320040"/>
          </a:xfrm>
          <a:prstGeom prst="rect">
            <a:avLst/>
          </a:prstGeom>
          <a:noFill/>
        </p:spPr>
        <p:txBody>
          <a:bodyPr wrap="square" lIns="0" rIns="0" tIns="0" bIns="0" anchor="t">
            <a:spAutoFit/>
          </a:bodyPr>
          <a:lstStyle/>
          <a:p>
            <a:pPr algn="l"/>
            <a:r>
              <a:rPr sz="1100" b="1">
                <a:solidFill>
                  <a:srgbClr val="BEC9AF"/>
                </a:solidFill>
                <a:latin typeface="Aptos"/>
              </a:rPr>
              <a:t>OFFRE &amp; PROSPECTION • OLITHEA</a:t>
            </a:r>
          </a:p>
        </p:txBody>
      </p:sp>
      <p:sp>
        <p:nvSpPr>
          <p:cNvPr id="9" name="Oval 8"/>
          <p:cNvSpPr/>
          <p:nvPr/>
        </p:nvSpPr>
        <p:spPr>
          <a:xfrm>
            <a:off x="8641080" y="822960"/>
            <a:ext cx="1097280" cy="1097280"/>
          </a:xfrm>
          <a:prstGeom prst="ellipse">
            <a:avLst/>
          </a:prstGeom>
          <a:solidFill>
            <a:srgbClr val="F7F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822960"/>
            <a:ext cx="1097280" cy="1097280"/>
          </a:xfrm>
          <a:prstGeom prst="rect">
            <a:avLst/>
          </a:prstGeom>
          <a:noFill/>
        </p:spPr>
        <p:txBody>
          <a:bodyPr wrap="square" lIns="0" rIns="0" tIns="0" bIns="0" anchor="ctr">
            <a:spAutoFit/>
          </a:bodyPr>
          <a:lstStyle/>
          <a:p>
            <a:pPr algn="ctr"/>
            <a:r>
              <a:rPr sz="900" b="1">
                <a:solidFill>
                  <a:srgbClr val="2F3B24"/>
                </a:solidFill>
                <a:latin typeface="Aptos"/>
              </a:rPr>
              <a:t>INTÉRÊT</a:t>
            </a:r>
          </a:p>
        </p:txBody>
      </p:sp>
      <p:cxnSp>
        <p:nvCxnSpPr>
          <p:cNvPr id="11" name="Connector 10"/>
          <p:cNvCxnSpPr/>
          <p:nvPr/>
        </p:nvCxnSpPr>
        <p:spPr>
          <a:xfrm flipH="1">
            <a:off x="7909560" y="1920240"/>
            <a:ext cx="1280160" cy="685800"/>
          </a:xfrm>
          <a:prstGeom prst="line">
            <a:avLst/>
          </a:prstGeom>
          <a:ln w="27940">
            <a:solidFill>
              <a:srgbClr val="97A98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89720" y="1920240"/>
            <a:ext cx="1234440" cy="685800"/>
          </a:xfrm>
          <a:prstGeom prst="line">
            <a:avLst/>
          </a:prstGeom>
          <a:ln w="27940">
            <a:solidFill>
              <a:srgbClr val="B78A7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086600" y="2542032"/>
            <a:ext cx="1965960" cy="969264"/>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78624" y="2715768"/>
            <a:ext cx="1572768" cy="237744"/>
          </a:xfrm>
          <a:prstGeom prst="rect">
            <a:avLst/>
          </a:prstGeom>
          <a:noFill/>
        </p:spPr>
        <p:txBody>
          <a:bodyPr wrap="square" lIns="0" rIns="0" tIns="0" bIns="0" anchor="t">
            <a:spAutoFit/>
          </a:bodyPr>
          <a:lstStyle/>
          <a:p>
            <a:pPr algn="l"/>
            <a:r>
              <a:rPr sz="1000" b="1">
                <a:solidFill>
                  <a:srgbClr val="FFFFFF"/>
                </a:solidFill>
                <a:latin typeface="Aptos"/>
              </a:rPr>
              <a:t>CLAIRE</a:t>
            </a:r>
          </a:p>
        </p:txBody>
      </p:sp>
      <p:sp>
        <p:nvSpPr>
          <p:cNvPr id="15" name="TextBox 14"/>
          <p:cNvSpPr txBox="1"/>
          <p:nvPr/>
        </p:nvSpPr>
        <p:spPr>
          <a:xfrm>
            <a:off x="7278624" y="2999232"/>
            <a:ext cx="1572768" cy="228600"/>
          </a:xfrm>
          <a:prstGeom prst="rect">
            <a:avLst/>
          </a:prstGeom>
          <a:noFill/>
        </p:spPr>
        <p:txBody>
          <a:bodyPr wrap="square" lIns="0" rIns="0" tIns="0" bIns="0" anchor="t">
            <a:spAutoFit/>
          </a:bodyPr>
          <a:lstStyle/>
          <a:p>
            <a:pPr algn="l"/>
            <a:r>
              <a:rPr sz="1250" b="1">
                <a:solidFill>
                  <a:srgbClr val="FFFFFF"/>
                </a:solidFill>
                <a:latin typeface="Aptos"/>
              </a:rPr>
              <a:t>prête à agir</a:t>
            </a:r>
          </a:p>
        </p:txBody>
      </p:sp>
      <p:sp>
        <p:nvSpPr>
          <p:cNvPr id="16" name="Rounded Rectangle 15"/>
          <p:cNvSpPr/>
          <p:nvPr/>
        </p:nvSpPr>
        <p:spPr>
          <a:xfrm>
            <a:off x="9436608" y="2542032"/>
            <a:ext cx="1965960" cy="969264"/>
          </a:xfrm>
          <a:prstGeom prst="roundRect">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28632" y="2715768"/>
            <a:ext cx="1572768" cy="237744"/>
          </a:xfrm>
          <a:prstGeom prst="rect">
            <a:avLst/>
          </a:prstGeom>
          <a:noFill/>
        </p:spPr>
        <p:txBody>
          <a:bodyPr wrap="square" lIns="0" rIns="0" tIns="0" bIns="0" anchor="t">
            <a:spAutoFit/>
          </a:bodyPr>
          <a:lstStyle/>
          <a:p>
            <a:pPr algn="l"/>
            <a:r>
              <a:rPr sz="1000" b="1">
                <a:solidFill>
                  <a:srgbClr val="FFFFFF"/>
                </a:solidFill>
                <a:latin typeface="Aptos"/>
              </a:rPr>
              <a:t>SOPHIE</a:t>
            </a:r>
          </a:p>
        </p:txBody>
      </p:sp>
      <p:sp>
        <p:nvSpPr>
          <p:cNvPr id="18" name="TextBox 17"/>
          <p:cNvSpPr txBox="1"/>
          <p:nvPr/>
        </p:nvSpPr>
        <p:spPr>
          <a:xfrm>
            <a:off x="9628632" y="2999232"/>
            <a:ext cx="1572768" cy="228600"/>
          </a:xfrm>
          <a:prstGeom prst="rect">
            <a:avLst/>
          </a:prstGeom>
          <a:noFill/>
        </p:spPr>
        <p:txBody>
          <a:bodyPr wrap="square" lIns="0" rIns="0" tIns="0" bIns="0" anchor="t">
            <a:spAutoFit/>
          </a:bodyPr>
          <a:lstStyle/>
          <a:p>
            <a:pPr algn="l"/>
            <a:r>
              <a:rPr sz="1250" b="1">
                <a:solidFill>
                  <a:srgbClr val="FFFFFF"/>
                </a:solidFill>
                <a:latin typeface="Aptos"/>
              </a:rPr>
              <a:t>veut découvrir</a:t>
            </a:r>
          </a:p>
        </p:txBody>
      </p:sp>
      <p:cxnSp>
        <p:nvCxnSpPr>
          <p:cNvPr id="19" name="Connector 18"/>
          <p:cNvCxnSpPr/>
          <p:nvPr/>
        </p:nvCxnSpPr>
        <p:spPr>
          <a:xfrm>
            <a:off x="8065008" y="3511296"/>
            <a:ext cx="1124712" cy="822960"/>
          </a:xfrm>
          <a:prstGeom prst="line">
            <a:avLst/>
          </a:prstGeom>
          <a:ln w="27940">
            <a:solidFill>
              <a:srgbClr val="97A9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9189720" y="3511296"/>
            <a:ext cx="1234440" cy="822960"/>
          </a:xfrm>
          <a:prstGeom prst="line">
            <a:avLst/>
          </a:prstGeom>
          <a:ln w="27940">
            <a:solidFill>
              <a:srgbClr val="B78A74"/>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458200" y="4251960"/>
            <a:ext cx="1463040" cy="1463040"/>
          </a:xfrm>
          <a:prstGeom prst="ellipse">
            <a:avLst/>
          </a:prstGeom>
          <a:solidFill>
            <a:srgbClr val="EEF3DD"/>
          </a:solidFill>
          <a:ln w="15240">
            <a:solidFill>
              <a:srgbClr val="B9C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4251960"/>
            <a:ext cx="1463040" cy="1463040"/>
          </a:xfrm>
          <a:prstGeom prst="rect">
            <a:avLst/>
          </a:prstGeom>
          <a:noFill/>
        </p:spPr>
        <p:txBody>
          <a:bodyPr wrap="square" lIns="0" rIns="0" tIns="0" bIns="0" anchor="ctr">
            <a:spAutoFit/>
          </a:bodyPr>
          <a:lstStyle/>
          <a:p>
            <a:pPr algn="ctr"/>
            <a:r>
              <a:rPr sz="1900" b="1">
                <a:solidFill>
                  <a:srgbClr val="2F3B24"/>
                </a:solidFill>
                <a:latin typeface="Aptos"/>
              </a:rPr>
              <a:t>RDV</a:t>
            </a:r>
          </a:p>
        </p:txBody>
      </p:sp>
      <p:sp>
        <p:nvSpPr>
          <p:cNvPr id="23" name="TextBox 22"/>
          <p:cNvSpPr txBox="1"/>
          <p:nvPr/>
        </p:nvSpPr>
        <p:spPr>
          <a:xfrm>
            <a:off x="7360920" y="5577840"/>
            <a:ext cx="3794760" cy="548640"/>
          </a:xfrm>
          <a:prstGeom prst="rect">
            <a:avLst/>
          </a:prstGeom>
          <a:noFill/>
        </p:spPr>
        <p:txBody>
          <a:bodyPr wrap="square" lIns="0" rIns="0" tIns="0" bIns="0" anchor="t">
            <a:spAutoFit/>
          </a:bodyPr>
          <a:lstStyle/>
          <a:p>
            <a:pPr algn="ctr"/>
            <a:r>
              <a:rPr sz="1350" b="1">
                <a:solidFill>
                  <a:srgbClr val="EEF3DD"/>
                </a:solidFill>
                <a:latin typeface="Aptos"/>
              </a:rPr>
              <a:t>La bonne prochaine étape
au bon moment.</a:t>
            </a:r>
          </a:p>
        </p:txBody>
      </p:sp>
      <p:sp>
        <p:nvSpPr>
          <p:cNvPr id="24" name="TextBox 23"/>
          <p:cNvSpPr txBox="1"/>
          <p:nvPr/>
        </p:nvSpPr>
        <p:spPr>
          <a:xfrm>
            <a:off x="658368" y="6537960"/>
            <a:ext cx="4297680" cy="164592"/>
          </a:xfrm>
          <a:prstGeom prst="rect">
            <a:avLst/>
          </a:prstGeom>
          <a:noFill/>
        </p:spPr>
        <p:txBody>
          <a:bodyPr wrap="square" lIns="0" rIns="0" tIns="0" bIns="0" anchor="t">
            <a:spAutoFit/>
          </a:bodyPr>
          <a:lstStyle/>
          <a:p>
            <a:pPr algn="l"/>
            <a:r>
              <a:rPr sz="850" b="1">
                <a:solidFill>
                  <a:srgbClr val="C7D0BB"/>
                </a:solidFill>
                <a:latin typeface="Aptos"/>
              </a:rPr>
              <a:t>OLITHEA  •  OFFRE &amp; PROSPECTION</a:t>
            </a:r>
          </a:p>
        </p:txBody>
      </p:sp>
      <p:sp>
        <p:nvSpPr>
          <p:cNvPr id="25" name="TextBox 24"/>
          <p:cNvSpPr txBox="1"/>
          <p:nvPr/>
        </p:nvSpPr>
        <p:spPr>
          <a:xfrm>
            <a:off x="11064240" y="6510528"/>
            <a:ext cx="457200" cy="201168"/>
          </a:xfrm>
          <a:prstGeom prst="rect">
            <a:avLst/>
          </a:prstGeom>
          <a:noFill/>
        </p:spPr>
        <p:txBody>
          <a:bodyPr wrap="square" lIns="0" rIns="0" tIns="0" bIns="0" anchor="t">
            <a:spAutoFit/>
          </a:bodyPr>
          <a:lstStyle/>
          <a:p>
            <a:pPr algn="r"/>
            <a:r>
              <a:rPr sz="900" b="1">
                <a:solidFill>
                  <a:srgbClr val="C7D0BB"/>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EC"/>
        </a:solidFill>
        <a:effectLst/>
      </p:bgPr>
    </p:bg>
    <p:spTree>
      <p:nvGrpSpPr>
        <p:cNvPr id="1" name=""/>
        <p:cNvGrpSpPr/>
        <p:nvPr/>
      </p:nvGrpSpPr>
      <p:grpSpPr/>
      <p:sp>
        <p:nvSpPr>
          <p:cNvPr id="2" name="TextBox 1"/>
          <p:cNvSpPr txBox="1"/>
          <p:nvPr/>
        </p:nvSpPr>
        <p:spPr>
          <a:xfrm>
            <a:off x="658368" y="420624"/>
            <a:ext cx="5486400" cy="274320"/>
          </a:xfrm>
          <a:prstGeom prst="rect">
            <a:avLst/>
          </a:prstGeom>
          <a:noFill/>
        </p:spPr>
        <p:txBody>
          <a:bodyPr wrap="square" lIns="0" rIns="0" tIns="0" bIns="0" anchor="t">
            <a:spAutoFit/>
          </a:bodyPr>
          <a:lstStyle/>
          <a:p>
            <a:pPr algn="l"/>
            <a:r>
              <a:rPr sz="1050" b="1">
                <a:solidFill>
                  <a:srgbClr val="647A0B"/>
                </a:solidFill>
                <a:latin typeface="Aptos"/>
              </a:rPr>
              <a:t>LE VRAI PROBLÈME</a:t>
            </a:r>
          </a:p>
        </p:txBody>
      </p:sp>
      <p:sp>
        <p:nvSpPr>
          <p:cNvPr id="3" name="TextBox 2"/>
          <p:cNvSpPr txBox="1"/>
          <p:nvPr/>
        </p:nvSpPr>
        <p:spPr>
          <a:xfrm>
            <a:off x="658368" y="713232"/>
            <a:ext cx="10789920" cy="731520"/>
          </a:xfrm>
          <a:prstGeom prst="rect">
            <a:avLst/>
          </a:prstGeom>
          <a:noFill/>
        </p:spPr>
        <p:txBody>
          <a:bodyPr wrap="square" lIns="0" rIns="0" tIns="0" bIns="0" anchor="t">
            <a:spAutoFit/>
          </a:bodyPr>
          <a:lstStyle/>
          <a:p>
            <a:pPr algn="l"/>
            <a:r>
              <a:rPr sz="2900" b="1">
                <a:solidFill>
                  <a:srgbClr val="2F3B24"/>
                </a:solidFill>
                <a:latin typeface="Aptos Display"/>
              </a:rPr>
              <a:t>Mêmes praticienne et offre. Deux attentes.</a:t>
            </a:r>
          </a:p>
        </p:txBody>
      </p:sp>
      <p:sp>
        <p:nvSpPr>
          <p:cNvPr id="4" name="TextBox 3"/>
          <p:cNvSpPr txBox="1"/>
          <p:nvPr/>
        </p:nvSpPr>
        <p:spPr>
          <a:xfrm>
            <a:off x="676656" y="1234440"/>
            <a:ext cx="8046720" cy="365760"/>
          </a:xfrm>
          <a:prstGeom prst="rect">
            <a:avLst/>
          </a:prstGeom>
          <a:noFill/>
        </p:spPr>
        <p:txBody>
          <a:bodyPr wrap="square" lIns="0" rIns="0" tIns="0" bIns="0" anchor="t">
            <a:spAutoFit/>
          </a:bodyPr>
          <a:lstStyle/>
          <a:p>
            <a:pPr algn="l"/>
            <a:r>
              <a:rPr sz="1400" b="0">
                <a:solidFill>
                  <a:srgbClr val="667064"/>
                </a:solidFill>
                <a:latin typeface="Aptos"/>
              </a:rPr>
              <a:t>Tout le monde ne se trouve pas au même niveau de décision.</a:t>
            </a:r>
          </a:p>
        </p:txBody>
      </p:sp>
      <p:sp>
        <p:nvSpPr>
          <p:cNvPr id="5" name="Rounded Rectangle 4"/>
          <p:cNvSpPr/>
          <p:nvPr/>
        </p:nvSpPr>
        <p:spPr>
          <a:xfrm>
            <a:off x="740664" y="1837943"/>
            <a:ext cx="5257800" cy="3977639"/>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783080"/>
            <a:ext cx="5257800" cy="3977639"/>
          </a:xfrm>
          <a:prstGeom prst="roundRect">
            <a:avLst/>
          </a:prstGeom>
          <a:solidFill>
            <a:srgbClr val="FFFFFF"/>
          </a:solidFill>
          <a:ln w="12700">
            <a:solidFill>
              <a:srgbClr val="CDD8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2148840"/>
            <a:ext cx="868680" cy="868680"/>
          </a:xfrm>
          <a:prstGeom prst="ellipse">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48840"/>
            <a:ext cx="868680" cy="868680"/>
          </a:xfrm>
          <a:prstGeom prst="rect">
            <a:avLst/>
          </a:prstGeom>
          <a:noFill/>
        </p:spPr>
        <p:txBody>
          <a:bodyPr wrap="square" lIns="0" rIns="0" tIns="0" bIns="0" anchor="ctr">
            <a:spAutoFit/>
          </a:bodyPr>
          <a:lstStyle/>
          <a:p>
            <a:pPr algn="ctr"/>
            <a:r>
              <a:rPr sz="2300" b="1">
                <a:solidFill>
                  <a:srgbClr val="FFFFFF"/>
                </a:solidFill>
                <a:latin typeface="Aptos"/>
              </a:rPr>
              <a:t>C</a:t>
            </a:r>
          </a:p>
        </p:txBody>
      </p:sp>
      <p:sp>
        <p:nvSpPr>
          <p:cNvPr id="9" name="TextBox 8"/>
          <p:cNvSpPr txBox="1"/>
          <p:nvPr/>
        </p:nvSpPr>
        <p:spPr>
          <a:xfrm>
            <a:off x="2148840" y="2103120"/>
            <a:ext cx="2286000" cy="274320"/>
          </a:xfrm>
          <a:prstGeom prst="rect">
            <a:avLst/>
          </a:prstGeom>
          <a:noFill/>
        </p:spPr>
        <p:txBody>
          <a:bodyPr wrap="square" lIns="0" rIns="0" tIns="0" bIns="0" anchor="t">
            <a:spAutoFit/>
          </a:bodyPr>
          <a:lstStyle/>
          <a:p>
            <a:pPr algn="l"/>
            <a:r>
              <a:rPr sz="1100" b="1">
                <a:solidFill>
                  <a:srgbClr val="647A0B"/>
                </a:solidFill>
                <a:latin typeface="Aptos"/>
              </a:rPr>
              <a:t>CLAIRE</a:t>
            </a:r>
          </a:p>
        </p:txBody>
      </p:sp>
      <p:sp>
        <p:nvSpPr>
          <p:cNvPr id="10" name="TextBox 9"/>
          <p:cNvSpPr txBox="1"/>
          <p:nvPr/>
        </p:nvSpPr>
        <p:spPr>
          <a:xfrm>
            <a:off x="2148840" y="2414016"/>
            <a:ext cx="3017520" cy="411480"/>
          </a:xfrm>
          <a:prstGeom prst="rect">
            <a:avLst/>
          </a:prstGeom>
          <a:noFill/>
        </p:spPr>
        <p:txBody>
          <a:bodyPr wrap="square" lIns="0" rIns="0" tIns="0" bIns="0" anchor="t">
            <a:spAutoFit/>
          </a:bodyPr>
          <a:lstStyle/>
          <a:p>
            <a:pPr algn="l"/>
            <a:r>
              <a:rPr sz="2100" b="1">
                <a:solidFill>
                  <a:srgbClr val="2F3B24"/>
                </a:solidFill>
                <a:latin typeface="Aptos Display"/>
              </a:rPr>
              <a:t>Elle veut agir maintenant</a:t>
            </a:r>
          </a:p>
        </p:txBody>
      </p:sp>
      <p:sp>
        <p:nvSpPr>
          <p:cNvPr id="11" name="TextBox 10"/>
          <p:cNvSpPr txBox="1"/>
          <p:nvPr/>
        </p:nvSpPr>
        <p:spPr>
          <a:xfrm>
            <a:off x="1097280" y="3218688"/>
            <a:ext cx="3840480" cy="256032"/>
          </a:xfrm>
          <a:prstGeom prst="rect">
            <a:avLst/>
          </a:prstGeom>
          <a:noFill/>
        </p:spPr>
        <p:txBody>
          <a:bodyPr wrap="square" lIns="0" rIns="0" tIns="0" bIns="0" anchor="t">
            <a:spAutoFit/>
          </a:bodyPr>
          <a:lstStyle/>
          <a:p>
            <a:pPr algn="l"/>
            <a:r>
              <a:rPr sz="1300" b="1">
                <a:solidFill>
                  <a:srgbClr val="27302A"/>
                </a:solidFill>
                <a:latin typeface="Aptos"/>
              </a:rPr>
              <a:t>Recommandée par une amie</a:t>
            </a:r>
          </a:p>
        </p:txBody>
      </p:sp>
      <p:sp>
        <p:nvSpPr>
          <p:cNvPr id="12" name="TextBox 11"/>
          <p:cNvSpPr txBox="1"/>
          <p:nvPr/>
        </p:nvSpPr>
        <p:spPr>
          <a:xfrm>
            <a:off x="1097280" y="3602736"/>
            <a:ext cx="4297680" cy="731520"/>
          </a:xfrm>
          <a:prstGeom prst="rect">
            <a:avLst/>
          </a:prstGeom>
          <a:noFill/>
        </p:spPr>
        <p:txBody>
          <a:bodyPr wrap="square" lIns="0" rIns="0" tIns="0" bIns="0" anchor="t">
            <a:spAutoFit/>
          </a:bodyPr>
          <a:lstStyle/>
          <a:p>
            <a:pPr algn="l"/>
            <a:r>
              <a:rPr sz="1500" b="0">
                <a:solidFill>
                  <a:srgbClr val="667064"/>
                </a:solidFill>
                <a:latin typeface="Aptos"/>
              </a:rPr>
              <a:t>Elle cherche le tarif, les modalités
et un créneau disponible.</a:t>
            </a:r>
          </a:p>
        </p:txBody>
      </p:sp>
      <p:sp>
        <p:nvSpPr>
          <p:cNvPr id="13" name="Rounded Rectangle 12"/>
          <p:cNvSpPr/>
          <p:nvPr/>
        </p:nvSpPr>
        <p:spPr>
          <a:xfrm>
            <a:off x="1078992" y="4892040"/>
            <a:ext cx="2331720" cy="457200"/>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92040"/>
            <a:ext cx="2331720" cy="457200"/>
          </a:xfrm>
          <a:prstGeom prst="rect">
            <a:avLst/>
          </a:prstGeom>
          <a:noFill/>
        </p:spPr>
        <p:txBody>
          <a:bodyPr wrap="square" lIns="0" rIns="0" tIns="0" bIns="0" anchor="ctr">
            <a:spAutoFit/>
          </a:bodyPr>
          <a:lstStyle/>
          <a:p>
            <a:pPr algn="ctr"/>
            <a:r>
              <a:rPr sz="950" b="1">
                <a:solidFill>
                  <a:srgbClr val="FFFFFF"/>
                </a:solidFill>
                <a:latin typeface="Aptos"/>
              </a:rPr>
              <a:t>PRENDRE RENDEZ-VOUS</a:t>
            </a:r>
          </a:p>
        </p:txBody>
      </p:sp>
      <p:sp>
        <p:nvSpPr>
          <p:cNvPr id="15" name="Rounded Rectangle 14"/>
          <p:cNvSpPr/>
          <p:nvPr/>
        </p:nvSpPr>
        <p:spPr>
          <a:xfrm>
            <a:off x="6291072" y="1837943"/>
            <a:ext cx="5257800" cy="3977639"/>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36208" y="1783080"/>
            <a:ext cx="5257800" cy="3977639"/>
          </a:xfrm>
          <a:prstGeom prst="roundRect">
            <a:avLst/>
          </a:prstGeom>
          <a:solidFill>
            <a:srgbClr val="FFFFFF"/>
          </a:solidFill>
          <a:ln w="12700">
            <a:solidFill>
              <a:srgbClr val="DFC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01968" y="2148840"/>
            <a:ext cx="868680" cy="868680"/>
          </a:xfrm>
          <a:prstGeom prst="ellipse">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1968" y="2148840"/>
            <a:ext cx="868680" cy="868680"/>
          </a:xfrm>
          <a:prstGeom prst="rect">
            <a:avLst/>
          </a:prstGeom>
          <a:noFill/>
        </p:spPr>
        <p:txBody>
          <a:bodyPr wrap="square" lIns="0" rIns="0" tIns="0" bIns="0" anchor="ctr">
            <a:spAutoFit/>
          </a:bodyPr>
          <a:lstStyle/>
          <a:p>
            <a:pPr algn="ctr"/>
            <a:r>
              <a:rPr sz="2300" b="1">
                <a:solidFill>
                  <a:srgbClr val="FFFFFF"/>
                </a:solidFill>
                <a:latin typeface="Aptos"/>
              </a:rPr>
              <a:t>S</a:t>
            </a:r>
          </a:p>
        </p:txBody>
      </p:sp>
      <p:sp>
        <p:nvSpPr>
          <p:cNvPr id="19" name="TextBox 18"/>
          <p:cNvSpPr txBox="1"/>
          <p:nvPr/>
        </p:nvSpPr>
        <p:spPr>
          <a:xfrm>
            <a:off x="7699248" y="2103120"/>
            <a:ext cx="2286000" cy="274320"/>
          </a:xfrm>
          <a:prstGeom prst="rect">
            <a:avLst/>
          </a:prstGeom>
          <a:noFill/>
        </p:spPr>
        <p:txBody>
          <a:bodyPr wrap="square" lIns="0" rIns="0" tIns="0" bIns="0" anchor="t">
            <a:spAutoFit/>
          </a:bodyPr>
          <a:lstStyle/>
          <a:p>
            <a:pPr algn="l"/>
            <a:r>
              <a:rPr sz="1100" b="1">
                <a:solidFill>
                  <a:srgbClr val="854F38"/>
                </a:solidFill>
                <a:latin typeface="Aptos"/>
              </a:rPr>
              <a:t>SOPHIE</a:t>
            </a:r>
          </a:p>
        </p:txBody>
      </p:sp>
      <p:sp>
        <p:nvSpPr>
          <p:cNvPr id="20" name="TextBox 19"/>
          <p:cNvSpPr txBox="1"/>
          <p:nvPr/>
        </p:nvSpPr>
        <p:spPr>
          <a:xfrm>
            <a:off x="7699248" y="2414016"/>
            <a:ext cx="3246120" cy="502920"/>
          </a:xfrm>
          <a:prstGeom prst="rect">
            <a:avLst/>
          </a:prstGeom>
          <a:noFill/>
        </p:spPr>
        <p:txBody>
          <a:bodyPr wrap="square" lIns="0" rIns="0" tIns="0" bIns="0" anchor="t">
            <a:spAutoFit/>
          </a:bodyPr>
          <a:lstStyle/>
          <a:p>
            <a:pPr algn="l"/>
            <a:r>
              <a:rPr sz="2100" b="1">
                <a:solidFill>
                  <a:srgbClr val="2F3B24"/>
                </a:solidFill>
                <a:latin typeface="Aptos Display"/>
              </a:rPr>
              <a:t>Elle veut d’abord comprendre</a:t>
            </a:r>
          </a:p>
        </p:txBody>
      </p:sp>
      <p:sp>
        <p:nvSpPr>
          <p:cNvPr id="21" name="TextBox 20"/>
          <p:cNvSpPr txBox="1"/>
          <p:nvPr/>
        </p:nvSpPr>
        <p:spPr>
          <a:xfrm>
            <a:off x="6647688" y="3218688"/>
            <a:ext cx="3840480" cy="256032"/>
          </a:xfrm>
          <a:prstGeom prst="rect">
            <a:avLst/>
          </a:prstGeom>
          <a:noFill/>
        </p:spPr>
        <p:txBody>
          <a:bodyPr wrap="square" lIns="0" rIns="0" tIns="0" bIns="0" anchor="t">
            <a:spAutoFit/>
          </a:bodyPr>
          <a:lstStyle/>
          <a:p>
            <a:pPr algn="l"/>
            <a:r>
              <a:rPr sz="1300" b="1">
                <a:solidFill>
                  <a:srgbClr val="27302A"/>
                </a:solidFill>
                <a:latin typeface="Aptos"/>
              </a:rPr>
              <a:t>Arrivée depuis Instagram</a:t>
            </a:r>
          </a:p>
        </p:txBody>
      </p:sp>
      <p:sp>
        <p:nvSpPr>
          <p:cNvPr id="22" name="TextBox 21"/>
          <p:cNvSpPr txBox="1"/>
          <p:nvPr/>
        </p:nvSpPr>
        <p:spPr>
          <a:xfrm>
            <a:off x="6647688" y="3602736"/>
            <a:ext cx="4297680" cy="731520"/>
          </a:xfrm>
          <a:prstGeom prst="rect">
            <a:avLst/>
          </a:prstGeom>
          <a:noFill/>
        </p:spPr>
        <p:txBody>
          <a:bodyPr wrap="square" lIns="0" rIns="0" tIns="0" bIns="0" anchor="t">
            <a:spAutoFit/>
          </a:bodyPr>
          <a:lstStyle/>
          <a:p>
            <a:pPr algn="l"/>
            <a:r>
              <a:rPr sz="1500" b="0">
                <a:solidFill>
                  <a:srgbClr val="667064"/>
                </a:solidFill>
                <a:latin typeface="Aptos"/>
              </a:rPr>
              <a:t>Elle se reconnaît, mais doit encore
découvrir l’approche.</a:t>
            </a:r>
          </a:p>
        </p:txBody>
      </p:sp>
      <p:sp>
        <p:nvSpPr>
          <p:cNvPr id="23" name="Rounded Rectangle 22"/>
          <p:cNvSpPr/>
          <p:nvPr/>
        </p:nvSpPr>
        <p:spPr>
          <a:xfrm>
            <a:off x="6629400" y="4892040"/>
            <a:ext cx="2560320" cy="457200"/>
          </a:xfrm>
          <a:prstGeom prst="roundRect">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4892040"/>
            <a:ext cx="2560320" cy="457200"/>
          </a:xfrm>
          <a:prstGeom prst="rect">
            <a:avLst/>
          </a:prstGeom>
          <a:noFill/>
        </p:spPr>
        <p:txBody>
          <a:bodyPr wrap="square" lIns="0" rIns="0" tIns="0" bIns="0" anchor="ctr">
            <a:spAutoFit/>
          </a:bodyPr>
          <a:lstStyle/>
          <a:p>
            <a:pPr algn="ctr"/>
            <a:r>
              <a:rPr sz="950" b="1">
                <a:solidFill>
                  <a:srgbClr val="FFFFFF"/>
                </a:solidFill>
                <a:latin typeface="Aptos"/>
              </a:rPr>
              <a:t>DÉCOUVRIR UNE RESSOURCE</a:t>
            </a:r>
          </a:p>
        </p:txBody>
      </p:sp>
      <p:sp>
        <p:nvSpPr>
          <p:cNvPr id="25" name="TextBox 24"/>
          <p:cNvSpPr txBox="1"/>
          <p:nvPr/>
        </p:nvSpPr>
        <p:spPr>
          <a:xfrm>
            <a:off x="1234440" y="5998464"/>
            <a:ext cx="9738360" cy="365760"/>
          </a:xfrm>
          <a:prstGeom prst="rect">
            <a:avLst/>
          </a:prstGeom>
          <a:noFill/>
        </p:spPr>
        <p:txBody>
          <a:bodyPr wrap="square" lIns="0" rIns="0" tIns="0" bIns="0" anchor="t">
            <a:spAutoFit/>
          </a:bodyPr>
          <a:lstStyle/>
          <a:p>
            <a:pPr algn="ctr"/>
            <a:r>
              <a:rPr sz="1700" b="1">
                <a:solidFill>
                  <a:srgbClr val="2F3B24"/>
                </a:solidFill>
                <a:latin typeface="Aptos"/>
              </a:rPr>
              <a:t>La prospection, c’est proposer la bonne prochaine étape.</a:t>
            </a:r>
          </a:p>
        </p:txBody>
      </p:sp>
      <p:sp>
        <p:nvSpPr>
          <p:cNvPr id="26" name="TextBox 25"/>
          <p:cNvSpPr txBox="1"/>
          <p:nvPr/>
        </p:nvSpPr>
        <p:spPr>
          <a:xfrm>
            <a:off x="658368" y="6537960"/>
            <a:ext cx="4297680" cy="164592"/>
          </a:xfrm>
          <a:prstGeom prst="rect">
            <a:avLst/>
          </a:prstGeom>
          <a:noFill/>
        </p:spPr>
        <p:txBody>
          <a:bodyPr wrap="square" lIns="0" rIns="0" tIns="0" bIns="0" anchor="t">
            <a:spAutoFit/>
          </a:bodyPr>
          <a:lstStyle/>
          <a:p>
            <a:pPr algn="l"/>
            <a:r>
              <a:rPr sz="850" b="1">
                <a:solidFill>
                  <a:srgbClr val="85907F"/>
                </a:solidFill>
                <a:latin typeface="Aptos"/>
              </a:rPr>
              <a:t>OLITHEA  •  OFFRE &amp; PROSPECTION</a:t>
            </a:r>
          </a:p>
        </p:txBody>
      </p:sp>
      <p:sp>
        <p:nvSpPr>
          <p:cNvPr id="27" name="TextBox 26"/>
          <p:cNvSpPr txBox="1"/>
          <p:nvPr/>
        </p:nvSpPr>
        <p:spPr>
          <a:xfrm>
            <a:off x="11064240" y="6510528"/>
            <a:ext cx="457200" cy="201168"/>
          </a:xfrm>
          <a:prstGeom prst="rect">
            <a:avLst/>
          </a:prstGeom>
          <a:noFill/>
        </p:spPr>
        <p:txBody>
          <a:bodyPr wrap="square" lIns="0" rIns="0" tIns="0" bIns="0" anchor="t">
            <a:spAutoFit/>
          </a:bodyPr>
          <a:lstStyle/>
          <a:p>
            <a:pPr algn="r"/>
            <a:r>
              <a:rPr sz="900" b="1">
                <a:solidFill>
                  <a:srgbClr val="85907F"/>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5486400" cy="274320"/>
          </a:xfrm>
          <a:prstGeom prst="rect">
            <a:avLst/>
          </a:prstGeom>
          <a:noFill/>
        </p:spPr>
        <p:txBody>
          <a:bodyPr wrap="square" lIns="0" rIns="0" tIns="0" bIns="0" anchor="t">
            <a:spAutoFit/>
          </a:bodyPr>
          <a:lstStyle/>
          <a:p>
            <a:pPr algn="l"/>
            <a:r>
              <a:rPr sz="1050" b="1">
                <a:solidFill>
                  <a:srgbClr val="647A0B"/>
                </a:solidFill>
                <a:latin typeface="Aptos"/>
              </a:rPr>
              <a:t>AVANT LE PARCOURS</a:t>
            </a:r>
          </a:p>
        </p:txBody>
      </p:sp>
      <p:sp>
        <p:nvSpPr>
          <p:cNvPr id="3" name="TextBox 2"/>
          <p:cNvSpPr txBox="1"/>
          <p:nvPr/>
        </p:nvSpPr>
        <p:spPr>
          <a:xfrm>
            <a:off x="658368" y="713232"/>
            <a:ext cx="10789920" cy="731520"/>
          </a:xfrm>
          <a:prstGeom prst="rect">
            <a:avLst/>
          </a:prstGeom>
          <a:noFill/>
        </p:spPr>
        <p:txBody>
          <a:bodyPr wrap="square" lIns="0" rIns="0" tIns="0" bIns="0" anchor="t">
            <a:spAutoFit/>
          </a:bodyPr>
          <a:lstStyle/>
          <a:p>
            <a:pPr algn="l"/>
            <a:r>
              <a:rPr sz="3000" b="1">
                <a:solidFill>
                  <a:srgbClr val="2F3B24"/>
                </a:solidFill>
                <a:latin typeface="Aptos Display"/>
              </a:rPr>
              <a:t>Une offre claire donne une direction.</a:t>
            </a:r>
          </a:p>
        </p:txBody>
      </p:sp>
      <p:sp>
        <p:nvSpPr>
          <p:cNvPr id="4" name="Rounded Rectangle 3"/>
          <p:cNvSpPr/>
          <p:nvPr/>
        </p:nvSpPr>
        <p:spPr>
          <a:xfrm>
            <a:off x="740664" y="1536192"/>
            <a:ext cx="4709160" cy="4526280"/>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481328"/>
            <a:ext cx="4709160" cy="4526280"/>
          </a:xfrm>
          <a:prstGeom prst="roundRect">
            <a:avLst/>
          </a:prstGeom>
          <a:solidFill>
            <a:srgbClr val="2F3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810512"/>
            <a:ext cx="1920240" cy="228600"/>
          </a:xfrm>
          <a:prstGeom prst="rect">
            <a:avLst/>
          </a:prstGeom>
          <a:noFill/>
        </p:spPr>
        <p:txBody>
          <a:bodyPr wrap="square" lIns="0" rIns="0" tIns="0" bIns="0" anchor="t">
            <a:spAutoFit/>
          </a:bodyPr>
          <a:lstStyle/>
          <a:p>
            <a:pPr algn="l"/>
            <a:r>
              <a:rPr sz="1000" b="1">
                <a:solidFill>
                  <a:srgbClr val="B9C7A9"/>
                </a:solidFill>
                <a:latin typeface="Aptos"/>
              </a:rPr>
              <a:t>VOTRE PHRASE</a:t>
            </a:r>
          </a:p>
        </p:txBody>
      </p:sp>
      <p:sp>
        <p:nvSpPr>
          <p:cNvPr id="7" name="TextBox 6"/>
          <p:cNvSpPr txBox="1"/>
          <p:nvPr/>
        </p:nvSpPr>
        <p:spPr>
          <a:xfrm>
            <a:off x="1024128" y="2267712"/>
            <a:ext cx="3886200" cy="2697480"/>
          </a:xfrm>
          <a:prstGeom prst="rect">
            <a:avLst/>
          </a:prstGeom>
          <a:noFill/>
        </p:spPr>
        <p:txBody>
          <a:bodyPr wrap="square" lIns="0" rIns="0" tIns="0" bIns="0" anchor="t">
            <a:spAutoFit/>
          </a:bodyPr>
          <a:lstStyle/>
          <a:p>
            <a:pPr algn="l"/>
            <a:r>
              <a:rPr sz="2000" b="1">
                <a:solidFill>
                  <a:srgbClr val="FFFFFF"/>
                </a:solidFill>
                <a:latin typeface="Aptos Display"/>
              </a:rPr>
              <a:t>J’accompagne </a:t>
            </a:r>
            <a:r>
              <a:rPr sz="2000" b="1">
                <a:solidFill>
                  <a:srgbClr val="C9D99B"/>
                </a:solidFill>
                <a:latin typeface="Aptos Display"/>
              </a:rPr>
              <a:t>[QUI]</a:t>
            </a:r>
            <a:r>
              <a:rPr sz="2000" b="1">
                <a:solidFill>
                  <a:srgbClr val="FFFFFF"/>
                </a:solidFill>
                <a:latin typeface="Aptos Display"/>
              </a:rPr>
              <a:t>
qui rencontre </a:t>
            </a:r>
            <a:r>
              <a:rPr sz="2000" b="1">
                <a:solidFill>
                  <a:srgbClr val="E0B3A0"/>
                </a:solidFill>
                <a:latin typeface="Aptos Display"/>
              </a:rPr>
              <a:t>[SITUATION]</a:t>
            </a:r>
            <a:r>
              <a:rPr sz="2000" b="1">
                <a:solidFill>
                  <a:srgbClr val="FFFFFF"/>
                </a:solidFill>
                <a:latin typeface="Aptos Display"/>
              </a:rPr>
              <a:t>
à aller vers </a:t>
            </a:r>
            <a:r>
              <a:rPr sz="2000" b="1">
                <a:solidFill>
                  <a:srgbClr val="C9D99B"/>
                </a:solidFill>
                <a:latin typeface="Aptos Display"/>
              </a:rPr>
              <a:t>[OBJECTIF]</a:t>
            </a:r>
            <a:r>
              <a:rPr sz="2000" b="1">
                <a:solidFill>
                  <a:srgbClr val="FFFFFF"/>
                </a:solidFill>
                <a:latin typeface="Aptos Display"/>
              </a:rPr>
              <a:t>
grâce à </a:t>
            </a:r>
            <a:r>
              <a:rPr sz="2000" b="1">
                <a:solidFill>
                  <a:srgbClr val="E0B3A0"/>
                </a:solidFill>
                <a:latin typeface="Aptos Display"/>
              </a:rPr>
              <a:t>[FORMAT]</a:t>
            </a:r>
            <a:r>
              <a:rPr sz="2000" b="1">
                <a:solidFill>
                  <a:srgbClr val="FFFFFF"/>
                </a:solidFill>
                <a:latin typeface="Aptos Display"/>
              </a:rPr>
              <a:t>
en commençant par </a:t>
            </a:r>
            <a:r>
              <a:rPr sz="2000" b="1">
                <a:solidFill>
                  <a:srgbClr val="C9D99B"/>
                </a:solidFill>
                <a:latin typeface="Aptos Display"/>
              </a:rPr>
              <a:t>[ÉTAPE]</a:t>
            </a:r>
          </a:p>
        </p:txBody>
      </p:sp>
      <p:sp>
        <p:nvSpPr>
          <p:cNvPr id="8" name="TextBox 7"/>
          <p:cNvSpPr txBox="1"/>
          <p:nvPr/>
        </p:nvSpPr>
        <p:spPr>
          <a:xfrm>
            <a:off x="1024128" y="5230368"/>
            <a:ext cx="3794760" cy="384048"/>
          </a:xfrm>
          <a:prstGeom prst="rect">
            <a:avLst/>
          </a:prstGeom>
          <a:noFill/>
        </p:spPr>
        <p:txBody>
          <a:bodyPr wrap="square" lIns="0" rIns="0" tIns="0" bIns="0" anchor="t">
            <a:spAutoFit/>
          </a:bodyPr>
          <a:lstStyle/>
          <a:p>
            <a:pPr algn="l"/>
            <a:r>
              <a:rPr sz="1250" b="1">
                <a:solidFill>
                  <a:srgbClr val="CDD8C1"/>
                </a:solidFill>
                <a:latin typeface="Aptos"/>
              </a:rPr>
              <a:t>Sans promesse irréaliste. Sans jargon métier.</a:t>
            </a:r>
          </a:p>
        </p:txBody>
      </p:sp>
      <p:sp>
        <p:nvSpPr>
          <p:cNvPr id="9" name="Rounded Rectangle 8"/>
          <p:cNvSpPr/>
          <p:nvPr/>
        </p:nvSpPr>
        <p:spPr>
          <a:xfrm>
            <a:off x="5833872" y="1481328"/>
            <a:ext cx="5440680" cy="713232"/>
          </a:xfrm>
          <a:prstGeom prst="roundRect">
            <a:avLst/>
          </a:prstGeom>
          <a:solidFill>
            <a:srgbClr val="F7F9EC"/>
          </a:solidFill>
          <a:ln w="12700">
            <a:solidFill>
              <a:srgbClr val="D8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035040" y="1600200"/>
            <a:ext cx="475488" cy="475488"/>
          </a:xfrm>
          <a:prstGeom prst="ellipse">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1600200"/>
            <a:ext cx="475488" cy="475488"/>
          </a:xfrm>
          <a:prstGeom prst="rect">
            <a:avLst/>
          </a:prstGeom>
          <a:noFill/>
        </p:spPr>
        <p:txBody>
          <a:bodyPr wrap="square" lIns="0" rIns="0" tIns="0" bIns="0" anchor="ctr">
            <a:spAutoFit/>
          </a:bodyPr>
          <a:lstStyle/>
          <a:p>
            <a:pPr algn="ctr"/>
            <a:r>
              <a:rPr sz="900" b="1">
                <a:solidFill>
                  <a:srgbClr val="FFFFFF"/>
                </a:solidFill>
                <a:latin typeface="Aptos"/>
              </a:rPr>
              <a:t>01</a:t>
            </a:r>
          </a:p>
        </p:txBody>
      </p:sp>
      <p:sp>
        <p:nvSpPr>
          <p:cNvPr id="12" name="TextBox 11"/>
          <p:cNvSpPr txBox="1"/>
          <p:nvPr/>
        </p:nvSpPr>
        <p:spPr>
          <a:xfrm>
            <a:off x="6711696" y="1600200"/>
            <a:ext cx="2011680" cy="228600"/>
          </a:xfrm>
          <a:prstGeom prst="rect">
            <a:avLst/>
          </a:prstGeom>
          <a:noFill/>
        </p:spPr>
        <p:txBody>
          <a:bodyPr wrap="square" lIns="0" rIns="0" tIns="0" bIns="0" anchor="t">
            <a:spAutoFit/>
          </a:bodyPr>
          <a:lstStyle/>
          <a:p>
            <a:pPr algn="l"/>
            <a:r>
              <a:rPr sz="1050" b="1">
                <a:solidFill>
                  <a:srgbClr val="2F3B24"/>
                </a:solidFill>
                <a:latin typeface="Aptos"/>
              </a:rPr>
              <a:t>POUR QUI ?</a:t>
            </a:r>
          </a:p>
        </p:txBody>
      </p:sp>
      <p:sp>
        <p:nvSpPr>
          <p:cNvPr id="13" name="TextBox 12"/>
          <p:cNvSpPr txBox="1"/>
          <p:nvPr/>
        </p:nvSpPr>
        <p:spPr>
          <a:xfrm>
            <a:off x="6711696" y="1837944"/>
            <a:ext cx="4069080" cy="210312"/>
          </a:xfrm>
          <a:prstGeom prst="rect">
            <a:avLst/>
          </a:prstGeom>
          <a:noFill/>
        </p:spPr>
        <p:txBody>
          <a:bodyPr wrap="square" lIns="0" rIns="0" tIns="0" bIns="0" anchor="t">
            <a:spAutoFit/>
          </a:bodyPr>
          <a:lstStyle/>
          <a:p>
            <a:pPr algn="l"/>
            <a:r>
              <a:rPr sz="1150" b="0">
                <a:solidFill>
                  <a:srgbClr val="667064"/>
                </a:solidFill>
                <a:latin typeface="Aptos"/>
              </a:rPr>
              <a:t>Une personne doit se reconnaître.</a:t>
            </a:r>
          </a:p>
        </p:txBody>
      </p:sp>
      <p:sp>
        <p:nvSpPr>
          <p:cNvPr id="14" name="Rounded Rectangle 13"/>
          <p:cNvSpPr/>
          <p:nvPr/>
        </p:nvSpPr>
        <p:spPr>
          <a:xfrm>
            <a:off x="5833872" y="2359152"/>
            <a:ext cx="5440680" cy="713232"/>
          </a:xfrm>
          <a:prstGeom prst="roundRect">
            <a:avLst/>
          </a:prstGeom>
          <a:solidFill>
            <a:srgbClr val="F7F9EC"/>
          </a:solidFill>
          <a:ln w="12700">
            <a:solidFill>
              <a:srgbClr val="D8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35040" y="2478024"/>
            <a:ext cx="475488" cy="475488"/>
          </a:xfrm>
          <a:prstGeom prst="ellipse">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2478024"/>
            <a:ext cx="475488" cy="475488"/>
          </a:xfrm>
          <a:prstGeom prst="rect">
            <a:avLst/>
          </a:prstGeom>
          <a:noFill/>
        </p:spPr>
        <p:txBody>
          <a:bodyPr wrap="square" lIns="0" rIns="0" tIns="0" bIns="0" anchor="ctr">
            <a:spAutoFit/>
          </a:bodyPr>
          <a:lstStyle/>
          <a:p>
            <a:pPr algn="ctr"/>
            <a:r>
              <a:rPr sz="900" b="1">
                <a:solidFill>
                  <a:srgbClr val="FFFFFF"/>
                </a:solidFill>
                <a:latin typeface="Aptos"/>
              </a:rPr>
              <a:t>02</a:t>
            </a:r>
          </a:p>
        </p:txBody>
      </p:sp>
      <p:sp>
        <p:nvSpPr>
          <p:cNvPr id="17" name="TextBox 16"/>
          <p:cNvSpPr txBox="1"/>
          <p:nvPr/>
        </p:nvSpPr>
        <p:spPr>
          <a:xfrm>
            <a:off x="6711696" y="2478024"/>
            <a:ext cx="2011680" cy="228600"/>
          </a:xfrm>
          <a:prstGeom prst="rect">
            <a:avLst/>
          </a:prstGeom>
          <a:noFill/>
        </p:spPr>
        <p:txBody>
          <a:bodyPr wrap="square" lIns="0" rIns="0" tIns="0" bIns="0" anchor="t">
            <a:spAutoFit/>
          </a:bodyPr>
          <a:lstStyle/>
          <a:p>
            <a:pPr algn="l"/>
            <a:r>
              <a:rPr sz="1050" b="1">
                <a:solidFill>
                  <a:srgbClr val="2F3B24"/>
                </a:solidFill>
                <a:latin typeface="Aptos"/>
              </a:rPr>
              <a:t>QUELLE SITUATION ?</a:t>
            </a:r>
          </a:p>
        </p:txBody>
      </p:sp>
      <p:sp>
        <p:nvSpPr>
          <p:cNvPr id="18" name="TextBox 17"/>
          <p:cNvSpPr txBox="1"/>
          <p:nvPr/>
        </p:nvSpPr>
        <p:spPr>
          <a:xfrm>
            <a:off x="6711696" y="2715768"/>
            <a:ext cx="4069080" cy="210312"/>
          </a:xfrm>
          <a:prstGeom prst="rect">
            <a:avLst/>
          </a:prstGeom>
          <a:noFill/>
        </p:spPr>
        <p:txBody>
          <a:bodyPr wrap="square" lIns="0" rIns="0" tIns="0" bIns="0" anchor="t">
            <a:spAutoFit/>
          </a:bodyPr>
          <a:lstStyle/>
          <a:p>
            <a:pPr algn="l"/>
            <a:r>
              <a:rPr sz="1150" b="0">
                <a:solidFill>
                  <a:srgbClr val="667064"/>
                </a:solidFill>
                <a:latin typeface="Aptos"/>
              </a:rPr>
              <a:t>Un problème ou un moment précis.</a:t>
            </a:r>
          </a:p>
        </p:txBody>
      </p:sp>
      <p:sp>
        <p:nvSpPr>
          <p:cNvPr id="19" name="Rounded Rectangle 18"/>
          <p:cNvSpPr/>
          <p:nvPr/>
        </p:nvSpPr>
        <p:spPr>
          <a:xfrm>
            <a:off x="5833872" y="3236976"/>
            <a:ext cx="5440680" cy="713232"/>
          </a:xfrm>
          <a:prstGeom prst="roundRect">
            <a:avLst/>
          </a:prstGeom>
          <a:solidFill>
            <a:srgbClr val="F7F9EC"/>
          </a:solidFill>
          <a:ln w="12700">
            <a:solidFill>
              <a:srgbClr val="D8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035040" y="3355848"/>
            <a:ext cx="475488" cy="475488"/>
          </a:xfrm>
          <a:prstGeom prst="ellipse">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3355848"/>
            <a:ext cx="475488" cy="475488"/>
          </a:xfrm>
          <a:prstGeom prst="rect">
            <a:avLst/>
          </a:prstGeom>
          <a:noFill/>
        </p:spPr>
        <p:txBody>
          <a:bodyPr wrap="square" lIns="0" rIns="0" tIns="0" bIns="0" anchor="ctr">
            <a:spAutoFit/>
          </a:bodyPr>
          <a:lstStyle/>
          <a:p>
            <a:pPr algn="ctr"/>
            <a:r>
              <a:rPr sz="900" b="1">
                <a:solidFill>
                  <a:srgbClr val="FFFFFF"/>
                </a:solidFill>
                <a:latin typeface="Aptos"/>
              </a:rPr>
              <a:t>03</a:t>
            </a:r>
          </a:p>
        </p:txBody>
      </p:sp>
      <p:sp>
        <p:nvSpPr>
          <p:cNvPr id="22" name="TextBox 21"/>
          <p:cNvSpPr txBox="1"/>
          <p:nvPr/>
        </p:nvSpPr>
        <p:spPr>
          <a:xfrm>
            <a:off x="6711696" y="3355848"/>
            <a:ext cx="2011680" cy="228600"/>
          </a:xfrm>
          <a:prstGeom prst="rect">
            <a:avLst/>
          </a:prstGeom>
          <a:noFill/>
        </p:spPr>
        <p:txBody>
          <a:bodyPr wrap="square" lIns="0" rIns="0" tIns="0" bIns="0" anchor="t">
            <a:spAutoFit/>
          </a:bodyPr>
          <a:lstStyle/>
          <a:p>
            <a:pPr algn="l"/>
            <a:r>
              <a:rPr sz="1050" b="1">
                <a:solidFill>
                  <a:srgbClr val="2F3B24"/>
                </a:solidFill>
                <a:latin typeface="Aptos"/>
              </a:rPr>
              <a:t>QUEL OBJECTIF ?</a:t>
            </a:r>
          </a:p>
        </p:txBody>
      </p:sp>
      <p:sp>
        <p:nvSpPr>
          <p:cNvPr id="23" name="TextBox 22"/>
          <p:cNvSpPr txBox="1"/>
          <p:nvPr/>
        </p:nvSpPr>
        <p:spPr>
          <a:xfrm>
            <a:off x="6711696" y="3593592"/>
            <a:ext cx="4069080" cy="210312"/>
          </a:xfrm>
          <a:prstGeom prst="rect">
            <a:avLst/>
          </a:prstGeom>
          <a:noFill/>
        </p:spPr>
        <p:txBody>
          <a:bodyPr wrap="square" lIns="0" rIns="0" tIns="0" bIns="0" anchor="t">
            <a:spAutoFit/>
          </a:bodyPr>
          <a:lstStyle/>
          <a:p>
            <a:pPr algn="l"/>
            <a:r>
              <a:rPr sz="1150" b="0">
                <a:solidFill>
                  <a:srgbClr val="667064"/>
                </a:solidFill>
                <a:latin typeface="Aptos"/>
              </a:rPr>
              <a:t>Un progrès compréhensible et réaliste.</a:t>
            </a:r>
          </a:p>
        </p:txBody>
      </p:sp>
      <p:sp>
        <p:nvSpPr>
          <p:cNvPr id="24" name="Rounded Rectangle 23"/>
          <p:cNvSpPr/>
          <p:nvPr/>
        </p:nvSpPr>
        <p:spPr>
          <a:xfrm>
            <a:off x="5833872" y="4114800"/>
            <a:ext cx="5440680" cy="713232"/>
          </a:xfrm>
          <a:prstGeom prst="roundRect">
            <a:avLst/>
          </a:prstGeom>
          <a:solidFill>
            <a:srgbClr val="F7F9EC"/>
          </a:solidFill>
          <a:ln w="12700">
            <a:solidFill>
              <a:srgbClr val="D8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035040" y="4233672"/>
            <a:ext cx="475488" cy="475488"/>
          </a:xfrm>
          <a:prstGeom prst="ellipse">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4233672"/>
            <a:ext cx="475488" cy="475488"/>
          </a:xfrm>
          <a:prstGeom prst="rect">
            <a:avLst/>
          </a:prstGeom>
          <a:noFill/>
        </p:spPr>
        <p:txBody>
          <a:bodyPr wrap="square" lIns="0" rIns="0" tIns="0" bIns="0" anchor="ctr">
            <a:spAutoFit/>
          </a:bodyPr>
          <a:lstStyle/>
          <a:p>
            <a:pPr algn="ctr"/>
            <a:r>
              <a:rPr sz="900" b="1">
                <a:solidFill>
                  <a:srgbClr val="FFFFFF"/>
                </a:solidFill>
                <a:latin typeface="Aptos"/>
              </a:rPr>
              <a:t>04</a:t>
            </a:r>
          </a:p>
        </p:txBody>
      </p:sp>
      <p:sp>
        <p:nvSpPr>
          <p:cNvPr id="27" name="TextBox 26"/>
          <p:cNvSpPr txBox="1"/>
          <p:nvPr/>
        </p:nvSpPr>
        <p:spPr>
          <a:xfrm>
            <a:off x="6711696" y="4233672"/>
            <a:ext cx="2011680" cy="228600"/>
          </a:xfrm>
          <a:prstGeom prst="rect">
            <a:avLst/>
          </a:prstGeom>
          <a:noFill/>
        </p:spPr>
        <p:txBody>
          <a:bodyPr wrap="square" lIns="0" rIns="0" tIns="0" bIns="0" anchor="t">
            <a:spAutoFit/>
          </a:bodyPr>
          <a:lstStyle/>
          <a:p>
            <a:pPr algn="l"/>
            <a:r>
              <a:rPr sz="1050" b="1">
                <a:solidFill>
                  <a:srgbClr val="2F3B24"/>
                </a:solidFill>
                <a:latin typeface="Aptos"/>
              </a:rPr>
              <a:t>SOUS QUELLE FORME ?</a:t>
            </a:r>
          </a:p>
        </p:txBody>
      </p:sp>
      <p:sp>
        <p:nvSpPr>
          <p:cNvPr id="28" name="TextBox 27"/>
          <p:cNvSpPr txBox="1"/>
          <p:nvPr/>
        </p:nvSpPr>
        <p:spPr>
          <a:xfrm>
            <a:off x="6711696" y="4471416"/>
            <a:ext cx="4069080" cy="210312"/>
          </a:xfrm>
          <a:prstGeom prst="rect">
            <a:avLst/>
          </a:prstGeom>
          <a:noFill/>
        </p:spPr>
        <p:txBody>
          <a:bodyPr wrap="square" lIns="0" rIns="0" tIns="0" bIns="0" anchor="t">
            <a:spAutoFit/>
          </a:bodyPr>
          <a:lstStyle/>
          <a:p>
            <a:pPr algn="l"/>
            <a:r>
              <a:rPr sz="1150" b="0">
                <a:solidFill>
                  <a:srgbClr val="667064"/>
                </a:solidFill>
                <a:latin typeface="Aptos"/>
              </a:rPr>
              <a:t>Séance, atelier, programme…</a:t>
            </a:r>
          </a:p>
        </p:txBody>
      </p:sp>
      <p:sp>
        <p:nvSpPr>
          <p:cNvPr id="29" name="Rounded Rectangle 28"/>
          <p:cNvSpPr/>
          <p:nvPr/>
        </p:nvSpPr>
        <p:spPr>
          <a:xfrm>
            <a:off x="5833872" y="4992624"/>
            <a:ext cx="5440680" cy="713232"/>
          </a:xfrm>
          <a:prstGeom prst="roundRect">
            <a:avLst/>
          </a:prstGeom>
          <a:solidFill>
            <a:srgbClr val="F7F9EC"/>
          </a:solidFill>
          <a:ln w="12700">
            <a:solidFill>
              <a:srgbClr val="D8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35040" y="5111496"/>
            <a:ext cx="475488" cy="475488"/>
          </a:xfrm>
          <a:prstGeom prst="ellipse">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35040" y="5111496"/>
            <a:ext cx="475488" cy="475488"/>
          </a:xfrm>
          <a:prstGeom prst="rect">
            <a:avLst/>
          </a:prstGeom>
          <a:noFill/>
        </p:spPr>
        <p:txBody>
          <a:bodyPr wrap="square" lIns="0" rIns="0" tIns="0" bIns="0" anchor="ctr">
            <a:spAutoFit/>
          </a:bodyPr>
          <a:lstStyle/>
          <a:p>
            <a:pPr algn="ctr"/>
            <a:r>
              <a:rPr sz="900" b="1">
                <a:solidFill>
                  <a:srgbClr val="FFFFFF"/>
                </a:solidFill>
                <a:latin typeface="Aptos"/>
              </a:rPr>
              <a:t>05</a:t>
            </a:r>
          </a:p>
        </p:txBody>
      </p:sp>
      <p:sp>
        <p:nvSpPr>
          <p:cNvPr id="32" name="TextBox 31"/>
          <p:cNvSpPr txBox="1"/>
          <p:nvPr/>
        </p:nvSpPr>
        <p:spPr>
          <a:xfrm>
            <a:off x="6711696" y="5111496"/>
            <a:ext cx="2011680" cy="228600"/>
          </a:xfrm>
          <a:prstGeom prst="rect">
            <a:avLst/>
          </a:prstGeom>
          <a:noFill/>
        </p:spPr>
        <p:txBody>
          <a:bodyPr wrap="square" lIns="0" rIns="0" tIns="0" bIns="0" anchor="t">
            <a:spAutoFit/>
          </a:bodyPr>
          <a:lstStyle/>
          <a:p>
            <a:pPr algn="l"/>
            <a:r>
              <a:rPr sz="1050" b="1">
                <a:solidFill>
                  <a:srgbClr val="2F3B24"/>
                </a:solidFill>
                <a:latin typeface="Aptos"/>
              </a:rPr>
              <a:t>QUEL PREMIER PAS ?</a:t>
            </a:r>
          </a:p>
        </p:txBody>
      </p:sp>
      <p:sp>
        <p:nvSpPr>
          <p:cNvPr id="33" name="TextBox 32"/>
          <p:cNvSpPr txBox="1"/>
          <p:nvPr/>
        </p:nvSpPr>
        <p:spPr>
          <a:xfrm>
            <a:off x="6711696" y="5349240"/>
            <a:ext cx="4069080" cy="210312"/>
          </a:xfrm>
          <a:prstGeom prst="rect">
            <a:avLst/>
          </a:prstGeom>
          <a:noFill/>
        </p:spPr>
        <p:txBody>
          <a:bodyPr wrap="square" lIns="0" rIns="0" tIns="0" bIns="0" anchor="t">
            <a:spAutoFit/>
          </a:bodyPr>
          <a:lstStyle/>
          <a:p>
            <a:pPr algn="l"/>
            <a:r>
              <a:rPr sz="1150" b="0">
                <a:solidFill>
                  <a:srgbClr val="667064"/>
                </a:solidFill>
                <a:latin typeface="Aptos"/>
              </a:rPr>
              <a:t>Une seule prochaine action.</a:t>
            </a:r>
          </a:p>
        </p:txBody>
      </p:sp>
      <p:sp>
        <p:nvSpPr>
          <p:cNvPr id="34" name="TextBox 33"/>
          <p:cNvSpPr txBox="1"/>
          <p:nvPr/>
        </p:nvSpPr>
        <p:spPr>
          <a:xfrm>
            <a:off x="5852160" y="5961888"/>
            <a:ext cx="5349240" cy="384048"/>
          </a:xfrm>
          <a:prstGeom prst="rect">
            <a:avLst/>
          </a:prstGeom>
          <a:noFill/>
        </p:spPr>
        <p:txBody>
          <a:bodyPr wrap="square" lIns="0" rIns="0" tIns="0" bIns="0" anchor="t">
            <a:spAutoFit/>
          </a:bodyPr>
          <a:lstStyle/>
          <a:p>
            <a:pPr algn="l"/>
            <a:r>
              <a:rPr sz="1300" b="1">
                <a:solidFill>
                  <a:srgbClr val="854F38"/>
                </a:solidFill>
                <a:latin typeface="Aptos"/>
              </a:rPr>
              <a:t>Une prestation décrit ce que vous faites. Une offre aide la personne à se situer.</a:t>
            </a:r>
          </a:p>
        </p:txBody>
      </p:sp>
      <p:sp>
        <p:nvSpPr>
          <p:cNvPr id="35" name="TextBox 34"/>
          <p:cNvSpPr txBox="1"/>
          <p:nvPr/>
        </p:nvSpPr>
        <p:spPr>
          <a:xfrm>
            <a:off x="658368" y="6537960"/>
            <a:ext cx="4297680" cy="164592"/>
          </a:xfrm>
          <a:prstGeom prst="rect">
            <a:avLst/>
          </a:prstGeom>
          <a:noFill/>
        </p:spPr>
        <p:txBody>
          <a:bodyPr wrap="square" lIns="0" rIns="0" tIns="0" bIns="0" anchor="t">
            <a:spAutoFit/>
          </a:bodyPr>
          <a:lstStyle/>
          <a:p>
            <a:pPr algn="l"/>
            <a:r>
              <a:rPr sz="850" b="1">
                <a:solidFill>
                  <a:srgbClr val="85907F"/>
                </a:solidFill>
                <a:latin typeface="Aptos"/>
              </a:rPr>
              <a:t>OLITHEA  •  OFFRE &amp; PROSPECTION</a:t>
            </a:r>
          </a:p>
        </p:txBody>
      </p:sp>
      <p:sp>
        <p:nvSpPr>
          <p:cNvPr id="36" name="TextBox 35"/>
          <p:cNvSpPr txBox="1"/>
          <p:nvPr/>
        </p:nvSpPr>
        <p:spPr>
          <a:xfrm>
            <a:off x="11064240" y="6510528"/>
            <a:ext cx="457200" cy="201168"/>
          </a:xfrm>
          <a:prstGeom prst="rect">
            <a:avLst/>
          </a:prstGeom>
          <a:noFill/>
        </p:spPr>
        <p:txBody>
          <a:bodyPr wrap="square" lIns="0" rIns="0" tIns="0" bIns="0" anchor="t">
            <a:spAutoFit/>
          </a:bodyPr>
          <a:lstStyle/>
          <a:p>
            <a:pPr algn="r"/>
            <a:r>
              <a:rPr sz="900" b="1">
                <a:solidFill>
                  <a:srgbClr val="85907F"/>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EC"/>
        </a:solidFill>
        <a:effectLst/>
      </p:bgPr>
    </p:bg>
    <p:spTree>
      <p:nvGrpSpPr>
        <p:cNvPr id="1" name=""/>
        <p:cNvGrpSpPr/>
        <p:nvPr/>
      </p:nvGrpSpPr>
      <p:grpSpPr/>
      <p:sp>
        <p:nvSpPr>
          <p:cNvPr id="2" name="TextBox 1"/>
          <p:cNvSpPr txBox="1"/>
          <p:nvPr/>
        </p:nvSpPr>
        <p:spPr>
          <a:xfrm>
            <a:off x="658368" y="420624"/>
            <a:ext cx="5486400" cy="274320"/>
          </a:xfrm>
          <a:prstGeom prst="rect">
            <a:avLst/>
          </a:prstGeom>
          <a:noFill/>
        </p:spPr>
        <p:txBody>
          <a:bodyPr wrap="square" lIns="0" rIns="0" tIns="0" bIns="0" anchor="t">
            <a:spAutoFit/>
          </a:bodyPr>
          <a:lstStyle/>
          <a:p>
            <a:pPr algn="l"/>
            <a:r>
              <a:rPr sz="1050" b="1">
                <a:solidFill>
                  <a:srgbClr val="647A0B"/>
                </a:solidFill>
                <a:latin typeface="Aptos"/>
              </a:rPr>
              <a:t>LE CHEMIN DE CLAIRE</a:t>
            </a:r>
          </a:p>
        </p:txBody>
      </p:sp>
      <p:sp>
        <p:nvSpPr>
          <p:cNvPr id="3" name="TextBox 2"/>
          <p:cNvSpPr txBox="1"/>
          <p:nvPr/>
        </p:nvSpPr>
        <p:spPr>
          <a:xfrm>
            <a:off x="658368" y="713232"/>
            <a:ext cx="10789920" cy="731520"/>
          </a:xfrm>
          <a:prstGeom prst="rect">
            <a:avLst/>
          </a:prstGeom>
          <a:noFill/>
        </p:spPr>
        <p:txBody>
          <a:bodyPr wrap="square" lIns="0" rIns="0" tIns="0" bIns="0" anchor="t">
            <a:spAutoFit/>
          </a:bodyPr>
          <a:lstStyle/>
          <a:p>
            <a:pPr algn="l"/>
            <a:r>
              <a:rPr sz="3000" b="1">
                <a:solidFill>
                  <a:srgbClr val="2F3B24"/>
                </a:solidFill>
                <a:latin typeface="Aptos Display"/>
              </a:rPr>
              <a:t>Elle est prête : enlevez les détours.</a:t>
            </a:r>
          </a:p>
        </p:txBody>
      </p:sp>
      <p:sp>
        <p:nvSpPr>
          <p:cNvPr id="4" name="TextBox 3"/>
          <p:cNvSpPr txBox="1"/>
          <p:nvPr/>
        </p:nvSpPr>
        <p:spPr>
          <a:xfrm>
            <a:off x="676656" y="1216152"/>
            <a:ext cx="5852160" cy="320040"/>
          </a:xfrm>
          <a:prstGeom prst="rect">
            <a:avLst/>
          </a:prstGeom>
          <a:noFill/>
        </p:spPr>
        <p:txBody>
          <a:bodyPr wrap="square" lIns="0" rIns="0" tIns="0" bIns="0" anchor="t">
            <a:spAutoFit/>
          </a:bodyPr>
          <a:lstStyle/>
          <a:p>
            <a:pPr algn="l"/>
            <a:r>
              <a:rPr sz="1400" b="0">
                <a:solidFill>
                  <a:srgbClr val="667064"/>
                </a:solidFill>
                <a:latin typeface="Aptos"/>
              </a:rPr>
              <a:t>Recommandée, décidée, pressée d’agir.</a:t>
            </a:r>
          </a:p>
        </p:txBody>
      </p:sp>
      <p:sp>
        <p:nvSpPr>
          <p:cNvPr id="5" name="Rounded Rectangle 4"/>
          <p:cNvSpPr/>
          <p:nvPr/>
        </p:nvSpPr>
        <p:spPr>
          <a:xfrm>
            <a:off x="731520" y="1901952"/>
            <a:ext cx="2212848" cy="1874519"/>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76656" y="1847088"/>
            <a:ext cx="2212848" cy="1874519"/>
          </a:xfrm>
          <a:prstGeom prst="roundRect">
            <a:avLst/>
          </a:prstGeom>
          <a:solidFill>
            <a:srgbClr val="FFFFFF"/>
          </a:solidFill>
          <a:ln w="12700">
            <a:solidFill>
              <a:srgbClr val="C9D4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2039112"/>
            <a:ext cx="457200" cy="228600"/>
          </a:xfrm>
          <a:prstGeom prst="rect">
            <a:avLst/>
          </a:prstGeom>
          <a:noFill/>
        </p:spPr>
        <p:txBody>
          <a:bodyPr wrap="square" lIns="0" rIns="0" tIns="0" bIns="0" anchor="t">
            <a:spAutoFit/>
          </a:bodyPr>
          <a:lstStyle/>
          <a:p>
            <a:pPr algn="l"/>
            <a:r>
              <a:rPr sz="1000" b="1">
                <a:solidFill>
                  <a:srgbClr val="667064"/>
                </a:solidFill>
                <a:latin typeface="Aptos"/>
              </a:rPr>
              <a:t>01</a:t>
            </a:r>
          </a:p>
        </p:txBody>
      </p:sp>
      <p:sp>
        <p:nvSpPr>
          <p:cNvPr id="8" name="TextBox 7"/>
          <p:cNvSpPr txBox="1"/>
          <p:nvPr/>
        </p:nvSpPr>
        <p:spPr>
          <a:xfrm>
            <a:off x="877824" y="2395728"/>
            <a:ext cx="1810512" cy="310896"/>
          </a:xfrm>
          <a:prstGeom prst="rect">
            <a:avLst/>
          </a:prstGeom>
          <a:noFill/>
        </p:spPr>
        <p:txBody>
          <a:bodyPr wrap="square" lIns="0" rIns="0" tIns="0" bIns="0" anchor="t">
            <a:spAutoFit/>
          </a:bodyPr>
          <a:lstStyle/>
          <a:p>
            <a:pPr algn="l"/>
            <a:r>
              <a:rPr sz="1200" b="1">
                <a:solidFill>
                  <a:srgbClr val="2F3B24"/>
                </a:solidFill>
                <a:latin typeface="Aptos"/>
              </a:rPr>
              <a:t>ARRIVÉE</a:t>
            </a:r>
          </a:p>
        </p:txBody>
      </p:sp>
      <p:sp>
        <p:nvSpPr>
          <p:cNvPr id="9" name="TextBox 8"/>
          <p:cNvSpPr txBox="1"/>
          <p:nvPr/>
        </p:nvSpPr>
        <p:spPr>
          <a:xfrm>
            <a:off x="877824" y="2834640"/>
            <a:ext cx="1810512" cy="566928"/>
          </a:xfrm>
          <a:prstGeom prst="rect">
            <a:avLst/>
          </a:prstGeom>
          <a:noFill/>
        </p:spPr>
        <p:txBody>
          <a:bodyPr wrap="square" lIns="0" rIns="0" tIns="0" bIns="0" anchor="t">
            <a:spAutoFit/>
          </a:bodyPr>
          <a:lstStyle/>
          <a:p>
            <a:pPr algn="l"/>
            <a:r>
              <a:rPr sz="1220" b="0">
                <a:solidFill>
                  <a:srgbClr val="667064"/>
                </a:solidFill>
                <a:latin typeface="Aptos"/>
              </a:rPr>
              <a:t>Recommandation
Google • Instagram</a:t>
            </a:r>
          </a:p>
        </p:txBody>
      </p:sp>
      <p:sp>
        <p:nvSpPr>
          <p:cNvPr id="10" name="Chevron 9"/>
          <p:cNvSpPr/>
          <p:nvPr/>
        </p:nvSpPr>
        <p:spPr>
          <a:xfrm>
            <a:off x="3054096" y="2542032"/>
            <a:ext cx="310896" cy="475488"/>
          </a:xfrm>
          <a:prstGeom prst="chevron">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47872" y="1901952"/>
            <a:ext cx="2212848" cy="1874519"/>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93008" y="1847088"/>
            <a:ext cx="2212848" cy="1874519"/>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4176" y="2039112"/>
            <a:ext cx="457200" cy="228600"/>
          </a:xfrm>
          <a:prstGeom prst="rect">
            <a:avLst/>
          </a:prstGeom>
          <a:noFill/>
        </p:spPr>
        <p:txBody>
          <a:bodyPr wrap="square" lIns="0" rIns="0" tIns="0" bIns="0" anchor="t">
            <a:spAutoFit/>
          </a:bodyPr>
          <a:lstStyle/>
          <a:p>
            <a:pPr algn="l"/>
            <a:r>
              <a:rPr sz="1000" b="1">
                <a:solidFill>
                  <a:srgbClr val="E7EED8"/>
                </a:solidFill>
                <a:latin typeface="Aptos"/>
              </a:rPr>
              <a:t>02</a:t>
            </a:r>
          </a:p>
        </p:txBody>
      </p:sp>
      <p:sp>
        <p:nvSpPr>
          <p:cNvPr id="14" name="TextBox 13"/>
          <p:cNvSpPr txBox="1"/>
          <p:nvPr/>
        </p:nvSpPr>
        <p:spPr>
          <a:xfrm>
            <a:off x="3694176" y="2395728"/>
            <a:ext cx="1810512" cy="310896"/>
          </a:xfrm>
          <a:prstGeom prst="rect">
            <a:avLst/>
          </a:prstGeom>
          <a:noFill/>
        </p:spPr>
        <p:txBody>
          <a:bodyPr wrap="square" lIns="0" rIns="0" tIns="0" bIns="0" anchor="t">
            <a:spAutoFit/>
          </a:bodyPr>
          <a:lstStyle/>
          <a:p>
            <a:pPr algn="l"/>
            <a:r>
              <a:rPr sz="1200" b="1">
                <a:solidFill>
                  <a:srgbClr val="FFFFFF"/>
                </a:solidFill>
                <a:latin typeface="Aptos"/>
              </a:rPr>
              <a:t>PORTAIL PUBLIC</a:t>
            </a:r>
          </a:p>
        </p:txBody>
      </p:sp>
      <p:sp>
        <p:nvSpPr>
          <p:cNvPr id="15" name="TextBox 14"/>
          <p:cNvSpPr txBox="1"/>
          <p:nvPr/>
        </p:nvSpPr>
        <p:spPr>
          <a:xfrm>
            <a:off x="3694176" y="2834640"/>
            <a:ext cx="1810512" cy="566928"/>
          </a:xfrm>
          <a:prstGeom prst="rect">
            <a:avLst/>
          </a:prstGeom>
          <a:noFill/>
        </p:spPr>
        <p:txBody>
          <a:bodyPr wrap="square" lIns="0" rIns="0" tIns="0" bIns="0" anchor="t">
            <a:spAutoFit/>
          </a:bodyPr>
          <a:lstStyle/>
          <a:p>
            <a:pPr algn="l"/>
            <a:r>
              <a:rPr sz="1220" b="0">
                <a:solidFill>
                  <a:srgbClr val="E7EED8"/>
                </a:solidFill>
                <a:latin typeface="Aptos"/>
              </a:rPr>
              <a:t>Qui • quoi • tarif
modalités • confiance</a:t>
            </a:r>
          </a:p>
        </p:txBody>
      </p:sp>
      <p:sp>
        <p:nvSpPr>
          <p:cNvPr id="16" name="Chevron 15"/>
          <p:cNvSpPr/>
          <p:nvPr/>
        </p:nvSpPr>
        <p:spPr>
          <a:xfrm>
            <a:off x="5870448" y="2542032"/>
            <a:ext cx="310896" cy="475488"/>
          </a:xfrm>
          <a:prstGeom prst="chevron">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64224" y="1901952"/>
            <a:ext cx="2212848" cy="1874519"/>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09360" y="1847088"/>
            <a:ext cx="2212848" cy="1874519"/>
          </a:xfrm>
          <a:prstGeom prst="roundRect">
            <a:avLst/>
          </a:prstGeom>
          <a:solidFill>
            <a:srgbClr val="FFFFFF"/>
          </a:solidFill>
          <a:ln w="12700">
            <a:solidFill>
              <a:srgbClr val="C9D4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2039112"/>
            <a:ext cx="457200" cy="228600"/>
          </a:xfrm>
          <a:prstGeom prst="rect">
            <a:avLst/>
          </a:prstGeom>
          <a:noFill/>
        </p:spPr>
        <p:txBody>
          <a:bodyPr wrap="square" lIns="0" rIns="0" tIns="0" bIns="0" anchor="t">
            <a:spAutoFit/>
          </a:bodyPr>
          <a:lstStyle/>
          <a:p>
            <a:pPr algn="l"/>
            <a:r>
              <a:rPr sz="1000" b="1">
                <a:solidFill>
                  <a:srgbClr val="667064"/>
                </a:solidFill>
                <a:latin typeface="Aptos"/>
              </a:rPr>
              <a:t>03</a:t>
            </a:r>
          </a:p>
        </p:txBody>
      </p:sp>
      <p:sp>
        <p:nvSpPr>
          <p:cNvPr id="20" name="TextBox 19"/>
          <p:cNvSpPr txBox="1"/>
          <p:nvPr/>
        </p:nvSpPr>
        <p:spPr>
          <a:xfrm>
            <a:off x="6510528" y="2395728"/>
            <a:ext cx="1810512" cy="310896"/>
          </a:xfrm>
          <a:prstGeom prst="rect">
            <a:avLst/>
          </a:prstGeom>
          <a:noFill/>
        </p:spPr>
        <p:txBody>
          <a:bodyPr wrap="square" lIns="0" rIns="0" tIns="0" bIns="0" anchor="t">
            <a:spAutoFit/>
          </a:bodyPr>
          <a:lstStyle/>
          <a:p>
            <a:pPr algn="l"/>
            <a:r>
              <a:rPr sz="1200" b="1">
                <a:solidFill>
                  <a:srgbClr val="2F3B24"/>
                </a:solidFill>
                <a:latin typeface="Aptos"/>
              </a:rPr>
              <a:t>PRESTATION</a:t>
            </a:r>
          </a:p>
        </p:txBody>
      </p:sp>
      <p:sp>
        <p:nvSpPr>
          <p:cNvPr id="21" name="TextBox 20"/>
          <p:cNvSpPr txBox="1"/>
          <p:nvPr/>
        </p:nvSpPr>
        <p:spPr>
          <a:xfrm>
            <a:off x="6510528" y="2834640"/>
            <a:ext cx="1810512" cy="566928"/>
          </a:xfrm>
          <a:prstGeom prst="rect">
            <a:avLst/>
          </a:prstGeom>
          <a:noFill/>
        </p:spPr>
        <p:txBody>
          <a:bodyPr wrap="square" lIns="0" rIns="0" tIns="0" bIns="0" anchor="t">
            <a:spAutoFit/>
          </a:bodyPr>
          <a:lstStyle/>
          <a:p>
            <a:pPr algn="l"/>
            <a:r>
              <a:rPr sz="1220" b="0">
                <a:solidFill>
                  <a:srgbClr val="667064"/>
                </a:solidFill>
                <a:latin typeface="Aptos"/>
              </a:rPr>
              <a:t>Un service clair
et un créneau</a:t>
            </a:r>
          </a:p>
        </p:txBody>
      </p:sp>
      <p:sp>
        <p:nvSpPr>
          <p:cNvPr id="22" name="Chevron 21"/>
          <p:cNvSpPr/>
          <p:nvPr/>
        </p:nvSpPr>
        <p:spPr>
          <a:xfrm>
            <a:off x="8686800" y="2542032"/>
            <a:ext cx="310896" cy="475488"/>
          </a:xfrm>
          <a:prstGeom prst="chevron">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80576" y="1901952"/>
            <a:ext cx="2212848" cy="1874519"/>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25712" y="1847088"/>
            <a:ext cx="2212848" cy="1874519"/>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0" y="2039112"/>
            <a:ext cx="457200" cy="228600"/>
          </a:xfrm>
          <a:prstGeom prst="rect">
            <a:avLst/>
          </a:prstGeom>
          <a:noFill/>
        </p:spPr>
        <p:txBody>
          <a:bodyPr wrap="square" lIns="0" rIns="0" tIns="0" bIns="0" anchor="t">
            <a:spAutoFit/>
          </a:bodyPr>
          <a:lstStyle/>
          <a:p>
            <a:pPr algn="l"/>
            <a:r>
              <a:rPr sz="1000" b="1">
                <a:solidFill>
                  <a:srgbClr val="E7EED8"/>
                </a:solidFill>
                <a:latin typeface="Aptos"/>
              </a:rPr>
              <a:t>04</a:t>
            </a:r>
          </a:p>
        </p:txBody>
      </p:sp>
      <p:sp>
        <p:nvSpPr>
          <p:cNvPr id="26" name="TextBox 25"/>
          <p:cNvSpPr txBox="1"/>
          <p:nvPr/>
        </p:nvSpPr>
        <p:spPr>
          <a:xfrm>
            <a:off x="9326880" y="2395728"/>
            <a:ext cx="1810512" cy="310896"/>
          </a:xfrm>
          <a:prstGeom prst="rect">
            <a:avLst/>
          </a:prstGeom>
          <a:noFill/>
        </p:spPr>
        <p:txBody>
          <a:bodyPr wrap="square" lIns="0" rIns="0" tIns="0" bIns="0" anchor="t">
            <a:spAutoFit/>
          </a:bodyPr>
          <a:lstStyle/>
          <a:p>
            <a:pPr algn="l"/>
            <a:r>
              <a:rPr sz="1200" b="1">
                <a:solidFill>
                  <a:srgbClr val="FFFFFF"/>
                </a:solidFill>
                <a:latin typeface="Aptos"/>
              </a:rPr>
              <a:t>RENDEZ-VOUS</a:t>
            </a:r>
          </a:p>
        </p:txBody>
      </p:sp>
      <p:sp>
        <p:nvSpPr>
          <p:cNvPr id="27" name="TextBox 26"/>
          <p:cNvSpPr txBox="1"/>
          <p:nvPr/>
        </p:nvSpPr>
        <p:spPr>
          <a:xfrm>
            <a:off x="9326880" y="2834640"/>
            <a:ext cx="1810512" cy="566928"/>
          </a:xfrm>
          <a:prstGeom prst="rect">
            <a:avLst/>
          </a:prstGeom>
          <a:noFill/>
        </p:spPr>
        <p:txBody>
          <a:bodyPr wrap="square" lIns="0" rIns="0" tIns="0" bIns="0" anchor="t">
            <a:spAutoFit/>
          </a:bodyPr>
          <a:lstStyle/>
          <a:p>
            <a:pPr algn="l"/>
            <a:r>
              <a:rPr sz="1220" b="0">
                <a:solidFill>
                  <a:srgbClr val="E7EED8"/>
                </a:solidFill>
                <a:latin typeface="Aptos"/>
              </a:rPr>
              <a:t>Confirmation
immédiate</a:t>
            </a:r>
          </a:p>
        </p:txBody>
      </p:sp>
      <p:sp>
        <p:nvSpPr>
          <p:cNvPr id="28" name="Rounded Rectangle 27"/>
          <p:cNvSpPr/>
          <p:nvPr/>
        </p:nvSpPr>
        <p:spPr>
          <a:xfrm>
            <a:off x="676656" y="4224528"/>
            <a:ext cx="10863072" cy="1664208"/>
          </a:xfrm>
          <a:prstGeom prst="roundRect">
            <a:avLst/>
          </a:prstGeom>
          <a:solidFill>
            <a:srgbClr val="2F3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 y="4507992"/>
            <a:ext cx="3931920" cy="274320"/>
          </a:xfrm>
          <a:prstGeom prst="rect">
            <a:avLst/>
          </a:prstGeom>
          <a:noFill/>
        </p:spPr>
        <p:txBody>
          <a:bodyPr wrap="square" lIns="0" rIns="0" tIns="0" bIns="0" anchor="t">
            <a:spAutoFit/>
          </a:bodyPr>
          <a:lstStyle/>
          <a:p>
            <a:pPr algn="l"/>
            <a:r>
              <a:rPr sz="1050" b="1">
                <a:solidFill>
                  <a:srgbClr val="C9D5B7"/>
                </a:solidFill>
                <a:latin typeface="Aptos"/>
              </a:rPr>
              <a:t>APRÈS LA RÉSERVATION, TOUT CONTINUE</a:t>
            </a:r>
          </a:p>
        </p:txBody>
      </p:sp>
      <p:sp>
        <p:nvSpPr>
          <p:cNvPr id="30" name="Rounded Rectangle 29"/>
          <p:cNvSpPr/>
          <p:nvPr/>
        </p:nvSpPr>
        <p:spPr>
          <a:xfrm>
            <a:off x="969264" y="4992624"/>
            <a:ext cx="1719072" cy="457200"/>
          </a:xfrm>
          <a:prstGeom prst="roundRect">
            <a:avLst/>
          </a:prstGeom>
          <a:solidFill>
            <a:srgbClr val="F7F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4992624"/>
            <a:ext cx="1719072" cy="457200"/>
          </a:xfrm>
          <a:prstGeom prst="rect">
            <a:avLst/>
          </a:prstGeom>
          <a:noFill/>
        </p:spPr>
        <p:txBody>
          <a:bodyPr wrap="square" lIns="0" rIns="0" tIns="0" bIns="0" anchor="ctr">
            <a:spAutoFit/>
          </a:bodyPr>
          <a:lstStyle/>
          <a:p>
            <a:pPr algn="ctr"/>
            <a:r>
              <a:rPr sz="950" b="1">
                <a:solidFill>
                  <a:srgbClr val="2F3B24"/>
                </a:solidFill>
                <a:latin typeface="Aptos"/>
              </a:rPr>
              <a:t>CONFIRMATION</a:t>
            </a:r>
          </a:p>
        </p:txBody>
      </p:sp>
      <p:sp>
        <p:nvSpPr>
          <p:cNvPr id="32" name="Rounded Rectangle 31"/>
          <p:cNvSpPr/>
          <p:nvPr/>
        </p:nvSpPr>
        <p:spPr>
          <a:xfrm>
            <a:off x="2999232" y="4992624"/>
            <a:ext cx="1719072" cy="457200"/>
          </a:xfrm>
          <a:prstGeom prst="roundRect">
            <a:avLst/>
          </a:prstGeom>
          <a:solidFill>
            <a:srgbClr val="F7F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99232" y="4992624"/>
            <a:ext cx="1719072" cy="457200"/>
          </a:xfrm>
          <a:prstGeom prst="rect">
            <a:avLst/>
          </a:prstGeom>
          <a:noFill/>
        </p:spPr>
        <p:txBody>
          <a:bodyPr wrap="square" lIns="0" rIns="0" tIns="0" bIns="0" anchor="ctr">
            <a:spAutoFit/>
          </a:bodyPr>
          <a:lstStyle/>
          <a:p>
            <a:pPr algn="ctr"/>
            <a:r>
              <a:rPr sz="950" b="1">
                <a:solidFill>
                  <a:srgbClr val="2F3B24"/>
                </a:solidFill>
                <a:latin typeface="Aptos"/>
              </a:rPr>
              <a:t>RAPPELS</a:t>
            </a:r>
          </a:p>
        </p:txBody>
      </p:sp>
      <p:sp>
        <p:nvSpPr>
          <p:cNvPr id="34" name="Rounded Rectangle 33"/>
          <p:cNvSpPr/>
          <p:nvPr/>
        </p:nvSpPr>
        <p:spPr>
          <a:xfrm>
            <a:off x="5029200" y="4992624"/>
            <a:ext cx="1719072" cy="457200"/>
          </a:xfrm>
          <a:prstGeom prst="roundRect">
            <a:avLst/>
          </a:prstGeom>
          <a:solidFill>
            <a:srgbClr val="F7F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0" y="4992624"/>
            <a:ext cx="1719072" cy="457200"/>
          </a:xfrm>
          <a:prstGeom prst="rect">
            <a:avLst/>
          </a:prstGeom>
          <a:noFill/>
        </p:spPr>
        <p:txBody>
          <a:bodyPr wrap="square" lIns="0" rIns="0" tIns="0" bIns="0" anchor="ctr">
            <a:spAutoFit/>
          </a:bodyPr>
          <a:lstStyle/>
          <a:p>
            <a:pPr algn="ctr"/>
            <a:r>
              <a:rPr sz="950" b="1">
                <a:solidFill>
                  <a:srgbClr val="2F3B24"/>
                </a:solidFill>
                <a:latin typeface="Aptos"/>
              </a:rPr>
              <a:t>AGENDA</a:t>
            </a:r>
          </a:p>
        </p:txBody>
      </p:sp>
      <p:sp>
        <p:nvSpPr>
          <p:cNvPr id="36" name="Rounded Rectangle 35"/>
          <p:cNvSpPr/>
          <p:nvPr/>
        </p:nvSpPr>
        <p:spPr>
          <a:xfrm>
            <a:off x="7059168" y="4992624"/>
            <a:ext cx="1719072" cy="457200"/>
          </a:xfrm>
          <a:prstGeom prst="roundRect">
            <a:avLst/>
          </a:prstGeom>
          <a:solidFill>
            <a:srgbClr val="F7F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59168" y="4992624"/>
            <a:ext cx="1719072" cy="457200"/>
          </a:xfrm>
          <a:prstGeom prst="rect">
            <a:avLst/>
          </a:prstGeom>
          <a:noFill/>
        </p:spPr>
        <p:txBody>
          <a:bodyPr wrap="square" lIns="0" rIns="0" tIns="0" bIns="0" anchor="ctr">
            <a:spAutoFit/>
          </a:bodyPr>
          <a:lstStyle/>
          <a:p>
            <a:pPr algn="ctr"/>
            <a:r>
              <a:rPr sz="950" b="1">
                <a:solidFill>
                  <a:srgbClr val="2F3B24"/>
                </a:solidFill>
                <a:latin typeface="Aptos"/>
              </a:rPr>
              <a:t>NOTE DE SÉANCE</a:t>
            </a:r>
          </a:p>
        </p:txBody>
      </p:sp>
      <p:sp>
        <p:nvSpPr>
          <p:cNvPr id="38" name="Rounded Rectangle 37"/>
          <p:cNvSpPr/>
          <p:nvPr/>
        </p:nvSpPr>
        <p:spPr>
          <a:xfrm>
            <a:off x="9089136" y="4992624"/>
            <a:ext cx="1719072" cy="457200"/>
          </a:xfrm>
          <a:prstGeom prst="roundRect">
            <a:avLst/>
          </a:prstGeom>
          <a:solidFill>
            <a:srgbClr val="F7F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89136" y="4992624"/>
            <a:ext cx="1719072" cy="457200"/>
          </a:xfrm>
          <a:prstGeom prst="rect">
            <a:avLst/>
          </a:prstGeom>
          <a:noFill/>
        </p:spPr>
        <p:txBody>
          <a:bodyPr wrap="square" lIns="0" rIns="0" tIns="0" bIns="0" anchor="ctr">
            <a:spAutoFit/>
          </a:bodyPr>
          <a:lstStyle/>
          <a:p>
            <a:pPr algn="ctr"/>
            <a:r>
              <a:rPr sz="950" b="1">
                <a:solidFill>
                  <a:srgbClr val="2F3B24"/>
                </a:solidFill>
                <a:latin typeface="Aptos"/>
              </a:rPr>
              <a:t>FACTURE</a:t>
            </a:r>
          </a:p>
        </p:txBody>
      </p:sp>
      <p:sp>
        <p:nvSpPr>
          <p:cNvPr id="40" name="TextBox 39"/>
          <p:cNvSpPr txBox="1"/>
          <p:nvPr/>
        </p:nvSpPr>
        <p:spPr>
          <a:xfrm>
            <a:off x="713232" y="6071616"/>
            <a:ext cx="10698480" cy="320040"/>
          </a:xfrm>
          <a:prstGeom prst="rect">
            <a:avLst/>
          </a:prstGeom>
          <a:noFill/>
        </p:spPr>
        <p:txBody>
          <a:bodyPr wrap="square" lIns="0" rIns="0" tIns="0" bIns="0" anchor="t">
            <a:spAutoFit/>
          </a:bodyPr>
          <a:lstStyle/>
          <a:p>
            <a:pPr algn="ctr"/>
            <a:r>
              <a:rPr sz="1450" b="1">
                <a:solidFill>
                  <a:srgbClr val="526509"/>
                </a:solidFill>
                <a:latin typeface="Aptos"/>
              </a:rPr>
              <a:t>Quand la personne est prête, le parcours ne doit pas la ralentir.</a:t>
            </a:r>
          </a:p>
        </p:txBody>
      </p:sp>
      <p:sp>
        <p:nvSpPr>
          <p:cNvPr id="41" name="TextBox 40"/>
          <p:cNvSpPr txBox="1"/>
          <p:nvPr/>
        </p:nvSpPr>
        <p:spPr>
          <a:xfrm>
            <a:off x="658368" y="6537960"/>
            <a:ext cx="4297680" cy="164592"/>
          </a:xfrm>
          <a:prstGeom prst="rect">
            <a:avLst/>
          </a:prstGeom>
          <a:noFill/>
        </p:spPr>
        <p:txBody>
          <a:bodyPr wrap="square" lIns="0" rIns="0" tIns="0" bIns="0" anchor="t">
            <a:spAutoFit/>
          </a:bodyPr>
          <a:lstStyle/>
          <a:p>
            <a:pPr algn="l"/>
            <a:r>
              <a:rPr sz="850" b="1">
                <a:solidFill>
                  <a:srgbClr val="85907F"/>
                </a:solidFill>
                <a:latin typeface="Aptos"/>
              </a:rPr>
              <a:t>OLITHEA  •  OFFRE &amp; PROSPECTION</a:t>
            </a:r>
          </a:p>
        </p:txBody>
      </p:sp>
      <p:sp>
        <p:nvSpPr>
          <p:cNvPr id="42" name="TextBox 41"/>
          <p:cNvSpPr txBox="1"/>
          <p:nvPr/>
        </p:nvSpPr>
        <p:spPr>
          <a:xfrm>
            <a:off x="11064240" y="6510528"/>
            <a:ext cx="457200" cy="201168"/>
          </a:xfrm>
          <a:prstGeom prst="rect">
            <a:avLst/>
          </a:prstGeom>
          <a:noFill/>
        </p:spPr>
        <p:txBody>
          <a:bodyPr wrap="square" lIns="0" rIns="0" tIns="0" bIns="0" anchor="t">
            <a:spAutoFit/>
          </a:bodyPr>
          <a:lstStyle/>
          <a:p>
            <a:pPr algn="r"/>
            <a:r>
              <a:rPr sz="900" b="1">
                <a:solidFill>
                  <a:srgbClr val="85907F"/>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5486400" cy="274320"/>
          </a:xfrm>
          <a:prstGeom prst="rect">
            <a:avLst/>
          </a:prstGeom>
          <a:noFill/>
        </p:spPr>
        <p:txBody>
          <a:bodyPr wrap="square" lIns="0" rIns="0" tIns="0" bIns="0" anchor="t">
            <a:spAutoFit/>
          </a:bodyPr>
          <a:lstStyle/>
          <a:p>
            <a:pPr algn="l"/>
            <a:r>
              <a:rPr sz="1050" b="1">
                <a:solidFill>
                  <a:srgbClr val="647A0B"/>
                </a:solidFill>
                <a:latin typeface="Aptos"/>
              </a:rPr>
              <a:t>LE CHEMIN DE SOPHIE</a:t>
            </a:r>
          </a:p>
        </p:txBody>
      </p:sp>
      <p:sp>
        <p:nvSpPr>
          <p:cNvPr id="3" name="TextBox 2"/>
          <p:cNvSpPr txBox="1"/>
          <p:nvPr/>
        </p:nvSpPr>
        <p:spPr>
          <a:xfrm>
            <a:off x="658368" y="713232"/>
            <a:ext cx="10789920" cy="731520"/>
          </a:xfrm>
          <a:prstGeom prst="rect">
            <a:avLst/>
          </a:prstGeom>
          <a:noFill/>
        </p:spPr>
        <p:txBody>
          <a:bodyPr wrap="square" lIns="0" rIns="0" tIns="0" bIns="0" anchor="t">
            <a:spAutoFit/>
          </a:bodyPr>
          <a:lstStyle/>
          <a:p>
            <a:pPr algn="l"/>
            <a:r>
              <a:rPr sz="2900" b="1">
                <a:solidFill>
                  <a:srgbClr val="2F3B24"/>
                </a:solidFill>
                <a:latin typeface="Aptos Display"/>
              </a:rPr>
              <a:t>Elle découvre : proposez un premier petit pas.</a:t>
            </a:r>
          </a:p>
        </p:txBody>
      </p:sp>
      <p:sp>
        <p:nvSpPr>
          <p:cNvPr id="4" name="TextBox 3"/>
          <p:cNvSpPr txBox="1"/>
          <p:nvPr/>
        </p:nvSpPr>
        <p:spPr>
          <a:xfrm>
            <a:off x="676656" y="1225296"/>
            <a:ext cx="6217920" cy="320040"/>
          </a:xfrm>
          <a:prstGeom prst="rect">
            <a:avLst/>
          </a:prstGeom>
          <a:noFill/>
        </p:spPr>
        <p:txBody>
          <a:bodyPr wrap="square" lIns="0" rIns="0" tIns="0" bIns="0" anchor="t">
            <a:spAutoFit/>
          </a:bodyPr>
          <a:lstStyle/>
          <a:p>
            <a:pPr algn="l"/>
            <a:r>
              <a:rPr sz="1400" b="0">
                <a:solidFill>
                  <a:srgbClr val="667064"/>
                </a:solidFill>
                <a:latin typeface="Aptos"/>
              </a:rPr>
              <a:t>Intéressée, mais pas encore prête à réserver.</a:t>
            </a:r>
          </a:p>
        </p:txBody>
      </p:sp>
      <p:sp>
        <p:nvSpPr>
          <p:cNvPr id="5" name="Oval 4"/>
          <p:cNvSpPr/>
          <p:nvPr/>
        </p:nvSpPr>
        <p:spPr>
          <a:xfrm>
            <a:off x="786384" y="1783080"/>
            <a:ext cx="530352" cy="530352"/>
          </a:xfrm>
          <a:prstGeom prst="ellipse">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783080"/>
            <a:ext cx="530352" cy="530352"/>
          </a:xfrm>
          <a:prstGeom prst="rect">
            <a:avLst/>
          </a:prstGeom>
          <a:noFill/>
        </p:spPr>
        <p:txBody>
          <a:bodyPr wrap="square" lIns="0" rIns="0" tIns="0" bIns="0" anchor="ctr">
            <a:spAutoFit/>
          </a:bodyPr>
          <a:lstStyle/>
          <a:p>
            <a:pPr algn="ctr"/>
            <a:r>
              <a:rPr sz="900" b="1">
                <a:solidFill>
                  <a:srgbClr val="FFFFFF"/>
                </a:solidFill>
                <a:latin typeface="Aptos"/>
              </a:rPr>
              <a:t>01</a:t>
            </a:r>
          </a:p>
        </p:txBody>
      </p:sp>
      <p:cxnSp>
        <p:nvCxnSpPr>
          <p:cNvPr id="7" name="Connector 6"/>
          <p:cNvCxnSpPr/>
          <p:nvPr/>
        </p:nvCxnSpPr>
        <p:spPr>
          <a:xfrm>
            <a:off x="1051560" y="2313432"/>
            <a:ext cx="0" cy="246888"/>
          </a:xfrm>
          <a:prstGeom prst="line">
            <a:avLst/>
          </a:prstGeom>
          <a:ln w="25400">
            <a:solidFill>
              <a:srgbClr val="D8C2B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554480" y="1755648"/>
            <a:ext cx="1645920" cy="228600"/>
          </a:xfrm>
          <a:prstGeom prst="rect">
            <a:avLst/>
          </a:prstGeom>
          <a:noFill/>
        </p:spPr>
        <p:txBody>
          <a:bodyPr wrap="square" lIns="0" rIns="0" tIns="0" bIns="0" anchor="t">
            <a:spAutoFit/>
          </a:bodyPr>
          <a:lstStyle/>
          <a:p>
            <a:pPr algn="l"/>
            <a:r>
              <a:rPr sz="1050" b="1">
                <a:solidFill>
                  <a:srgbClr val="854F38"/>
                </a:solidFill>
                <a:latin typeface="Aptos"/>
              </a:rPr>
              <a:t>CONTENU</a:t>
            </a:r>
          </a:p>
        </p:txBody>
      </p:sp>
      <p:sp>
        <p:nvSpPr>
          <p:cNvPr id="9" name="TextBox 8"/>
          <p:cNvSpPr txBox="1"/>
          <p:nvPr/>
        </p:nvSpPr>
        <p:spPr>
          <a:xfrm>
            <a:off x="2944368" y="1746504"/>
            <a:ext cx="3337560" cy="438912"/>
          </a:xfrm>
          <a:prstGeom prst="rect">
            <a:avLst/>
          </a:prstGeom>
          <a:noFill/>
        </p:spPr>
        <p:txBody>
          <a:bodyPr wrap="square" lIns="0" rIns="0" tIns="0" bIns="0" anchor="t">
            <a:spAutoFit/>
          </a:bodyPr>
          <a:lstStyle/>
          <a:p>
            <a:pPr algn="l"/>
            <a:r>
              <a:rPr sz="1320" b="1">
                <a:solidFill>
                  <a:srgbClr val="27302A"/>
                </a:solidFill>
                <a:latin typeface="Aptos"/>
              </a:rPr>
              <a:t>Elle se reconnaît.</a:t>
            </a:r>
          </a:p>
        </p:txBody>
      </p:sp>
      <p:sp>
        <p:nvSpPr>
          <p:cNvPr id="10" name="Oval 9"/>
          <p:cNvSpPr/>
          <p:nvPr/>
        </p:nvSpPr>
        <p:spPr>
          <a:xfrm>
            <a:off x="786384" y="2587752"/>
            <a:ext cx="530352" cy="530352"/>
          </a:xfrm>
          <a:prstGeom prst="ellipse">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587752"/>
            <a:ext cx="530352" cy="530352"/>
          </a:xfrm>
          <a:prstGeom prst="rect">
            <a:avLst/>
          </a:prstGeom>
          <a:noFill/>
        </p:spPr>
        <p:txBody>
          <a:bodyPr wrap="square" lIns="0" rIns="0" tIns="0" bIns="0" anchor="ctr">
            <a:spAutoFit/>
          </a:bodyPr>
          <a:lstStyle/>
          <a:p>
            <a:pPr algn="ctr"/>
            <a:r>
              <a:rPr sz="900" b="1">
                <a:solidFill>
                  <a:srgbClr val="FFFFFF"/>
                </a:solidFill>
                <a:latin typeface="Aptos"/>
              </a:rPr>
              <a:t>02</a:t>
            </a:r>
          </a:p>
        </p:txBody>
      </p:sp>
      <p:cxnSp>
        <p:nvCxnSpPr>
          <p:cNvPr id="12" name="Connector 11"/>
          <p:cNvCxnSpPr/>
          <p:nvPr/>
        </p:nvCxnSpPr>
        <p:spPr>
          <a:xfrm>
            <a:off x="1051560" y="3118104"/>
            <a:ext cx="0" cy="246888"/>
          </a:xfrm>
          <a:prstGeom prst="line">
            <a:avLst/>
          </a:prstGeom>
          <a:ln w="25400">
            <a:solidFill>
              <a:srgbClr val="D8C2B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554480" y="2560320"/>
            <a:ext cx="1645920" cy="228600"/>
          </a:xfrm>
          <a:prstGeom prst="rect">
            <a:avLst/>
          </a:prstGeom>
          <a:noFill/>
        </p:spPr>
        <p:txBody>
          <a:bodyPr wrap="square" lIns="0" rIns="0" tIns="0" bIns="0" anchor="t">
            <a:spAutoFit/>
          </a:bodyPr>
          <a:lstStyle/>
          <a:p>
            <a:pPr algn="l"/>
            <a:r>
              <a:rPr sz="1050" b="1">
                <a:solidFill>
                  <a:srgbClr val="854F38"/>
                </a:solidFill>
                <a:latin typeface="Aptos"/>
              </a:rPr>
              <a:t>RESSOURCE</a:t>
            </a:r>
          </a:p>
        </p:txBody>
      </p:sp>
      <p:sp>
        <p:nvSpPr>
          <p:cNvPr id="14" name="TextBox 13"/>
          <p:cNvSpPr txBox="1"/>
          <p:nvPr/>
        </p:nvSpPr>
        <p:spPr>
          <a:xfrm>
            <a:off x="2944368" y="2551176"/>
            <a:ext cx="3337560" cy="438912"/>
          </a:xfrm>
          <a:prstGeom prst="rect">
            <a:avLst/>
          </a:prstGeom>
          <a:noFill/>
        </p:spPr>
        <p:txBody>
          <a:bodyPr wrap="square" lIns="0" rIns="0" tIns="0" bIns="0" anchor="t">
            <a:spAutoFit/>
          </a:bodyPr>
          <a:lstStyle/>
          <a:p>
            <a:pPr algn="l"/>
            <a:r>
              <a:rPr sz="1320" b="1">
                <a:solidFill>
                  <a:srgbClr val="27302A"/>
                </a:solidFill>
                <a:latin typeface="Aptos"/>
              </a:rPr>
              <a:t>Elle reçoit une première valeur.</a:t>
            </a:r>
          </a:p>
        </p:txBody>
      </p:sp>
      <p:sp>
        <p:nvSpPr>
          <p:cNvPr id="15" name="Oval 14"/>
          <p:cNvSpPr/>
          <p:nvPr/>
        </p:nvSpPr>
        <p:spPr>
          <a:xfrm>
            <a:off x="786384" y="3392424"/>
            <a:ext cx="530352" cy="530352"/>
          </a:xfrm>
          <a:prstGeom prst="ellipse">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392424"/>
            <a:ext cx="530352" cy="530352"/>
          </a:xfrm>
          <a:prstGeom prst="rect">
            <a:avLst/>
          </a:prstGeom>
          <a:noFill/>
        </p:spPr>
        <p:txBody>
          <a:bodyPr wrap="square" lIns="0" rIns="0" tIns="0" bIns="0" anchor="ctr">
            <a:spAutoFit/>
          </a:bodyPr>
          <a:lstStyle/>
          <a:p>
            <a:pPr algn="ctr"/>
            <a:r>
              <a:rPr sz="900" b="1">
                <a:solidFill>
                  <a:srgbClr val="FFFFFF"/>
                </a:solidFill>
                <a:latin typeface="Aptos"/>
              </a:rPr>
              <a:t>03</a:t>
            </a:r>
          </a:p>
        </p:txBody>
      </p:sp>
      <p:cxnSp>
        <p:nvCxnSpPr>
          <p:cNvPr id="17" name="Connector 16"/>
          <p:cNvCxnSpPr/>
          <p:nvPr/>
        </p:nvCxnSpPr>
        <p:spPr>
          <a:xfrm>
            <a:off x="1051560" y="3922776"/>
            <a:ext cx="0" cy="246887"/>
          </a:xfrm>
          <a:prstGeom prst="line">
            <a:avLst/>
          </a:prstGeom>
          <a:ln w="25400">
            <a:solidFill>
              <a:srgbClr val="D8C2B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554480" y="3364992"/>
            <a:ext cx="1645920" cy="228600"/>
          </a:xfrm>
          <a:prstGeom prst="rect">
            <a:avLst/>
          </a:prstGeom>
          <a:noFill/>
        </p:spPr>
        <p:txBody>
          <a:bodyPr wrap="square" lIns="0" rIns="0" tIns="0" bIns="0" anchor="t">
            <a:spAutoFit/>
          </a:bodyPr>
          <a:lstStyle/>
          <a:p>
            <a:pPr algn="l"/>
            <a:r>
              <a:rPr sz="1050" b="1">
                <a:solidFill>
                  <a:srgbClr val="854F38"/>
                </a:solidFill>
                <a:latin typeface="Aptos"/>
              </a:rPr>
              <a:t>SUIVI</a:t>
            </a:r>
          </a:p>
        </p:txBody>
      </p:sp>
      <p:sp>
        <p:nvSpPr>
          <p:cNvPr id="19" name="TextBox 18"/>
          <p:cNvSpPr txBox="1"/>
          <p:nvPr/>
        </p:nvSpPr>
        <p:spPr>
          <a:xfrm>
            <a:off x="2944368" y="3355848"/>
            <a:ext cx="3337560" cy="438912"/>
          </a:xfrm>
          <a:prstGeom prst="rect">
            <a:avLst/>
          </a:prstGeom>
          <a:noFill/>
        </p:spPr>
        <p:txBody>
          <a:bodyPr wrap="square" lIns="0" rIns="0" tIns="0" bIns="0" anchor="t">
            <a:spAutoFit/>
          </a:bodyPr>
          <a:lstStyle/>
          <a:p>
            <a:pPr algn="l"/>
            <a:r>
              <a:rPr sz="1320" b="1">
                <a:solidFill>
                  <a:srgbClr val="27302A"/>
                </a:solidFill>
                <a:latin typeface="Aptos"/>
              </a:rPr>
              <a:t>Elle comprend l’approche.</a:t>
            </a:r>
          </a:p>
        </p:txBody>
      </p:sp>
      <p:sp>
        <p:nvSpPr>
          <p:cNvPr id="20" name="Oval 19"/>
          <p:cNvSpPr/>
          <p:nvPr/>
        </p:nvSpPr>
        <p:spPr>
          <a:xfrm>
            <a:off x="786384" y="4197096"/>
            <a:ext cx="530352" cy="530352"/>
          </a:xfrm>
          <a:prstGeom prst="ellipse">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4197096"/>
            <a:ext cx="530352" cy="530352"/>
          </a:xfrm>
          <a:prstGeom prst="rect">
            <a:avLst/>
          </a:prstGeom>
          <a:noFill/>
        </p:spPr>
        <p:txBody>
          <a:bodyPr wrap="square" lIns="0" rIns="0" tIns="0" bIns="0" anchor="ctr">
            <a:spAutoFit/>
          </a:bodyPr>
          <a:lstStyle/>
          <a:p>
            <a:pPr algn="ctr"/>
            <a:r>
              <a:rPr sz="900" b="1">
                <a:solidFill>
                  <a:srgbClr val="FFFFFF"/>
                </a:solidFill>
                <a:latin typeface="Aptos"/>
              </a:rPr>
              <a:t>04</a:t>
            </a:r>
          </a:p>
        </p:txBody>
      </p:sp>
      <p:cxnSp>
        <p:nvCxnSpPr>
          <p:cNvPr id="22" name="Connector 21"/>
          <p:cNvCxnSpPr/>
          <p:nvPr/>
        </p:nvCxnSpPr>
        <p:spPr>
          <a:xfrm>
            <a:off x="1051560" y="4727448"/>
            <a:ext cx="0" cy="246888"/>
          </a:xfrm>
          <a:prstGeom prst="line">
            <a:avLst/>
          </a:prstGeom>
          <a:ln w="25400">
            <a:solidFill>
              <a:srgbClr val="D8C2B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554480" y="4169664"/>
            <a:ext cx="1645920" cy="228600"/>
          </a:xfrm>
          <a:prstGeom prst="rect">
            <a:avLst/>
          </a:prstGeom>
          <a:noFill/>
        </p:spPr>
        <p:txBody>
          <a:bodyPr wrap="square" lIns="0" rIns="0" tIns="0" bIns="0" anchor="t">
            <a:spAutoFit/>
          </a:bodyPr>
          <a:lstStyle/>
          <a:p>
            <a:pPr algn="l"/>
            <a:r>
              <a:rPr sz="1050" b="1">
                <a:solidFill>
                  <a:srgbClr val="854F38"/>
                </a:solidFill>
                <a:latin typeface="Aptos"/>
              </a:rPr>
              <a:t>OFFRE</a:t>
            </a:r>
          </a:p>
        </p:txBody>
      </p:sp>
      <p:sp>
        <p:nvSpPr>
          <p:cNvPr id="24" name="TextBox 23"/>
          <p:cNvSpPr txBox="1"/>
          <p:nvPr/>
        </p:nvSpPr>
        <p:spPr>
          <a:xfrm>
            <a:off x="2944368" y="4160520"/>
            <a:ext cx="3337560" cy="438912"/>
          </a:xfrm>
          <a:prstGeom prst="rect">
            <a:avLst/>
          </a:prstGeom>
          <a:noFill/>
        </p:spPr>
        <p:txBody>
          <a:bodyPr wrap="square" lIns="0" rIns="0" tIns="0" bIns="0" anchor="t">
            <a:spAutoFit/>
          </a:bodyPr>
          <a:lstStyle/>
          <a:p>
            <a:pPr algn="l"/>
            <a:r>
              <a:rPr sz="1320" b="1">
                <a:solidFill>
                  <a:srgbClr val="27302A"/>
                </a:solidFill>
                <a:latin typeface="Aptos"/>
              </a:rPr>
              <a:t>Elle voit la prochaine étape.</a:t>
            </a:r>
          </a:p>
        </p:txBody>
      </p:sp>
      <p:sp>
        <p:nvSpPr>
          <p:cNvPr id="25" name="Oval 24"/>
          <p:cNvSpPr/>
          <p:nvPr/>
        </p:nvSpPr>
        <p:spPr>
          <a:xfrm>
            <a:off x="786384" y="5001768"/>
            <a:ext cx="530352" cy="530352"/>
          </a:xfrm>
          <a:prstGeom prst="ellipse">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001768"/>
            <a:ext cx="530352" cy="530352"/>
          </a:xfrm>
          <a:prstGeom prst="rect">
            <a:avLst/>
          </a:prstGeom>
          <a:noFill/>
        </p:spPr>
        <p:txBody>
          <a:bodyPr wrap="square" lIns="0" rIns="0" tIns="0" bIns="0" anchor="ctr">
            <a:spAutoFit/>
          </a:bodyPr>
          <a:lstStyle/>
          <a:p>
            <a:pPr algn="ctr"/>
            <a:r>
              <a:rPr sz="900" b="1">
                <a:solidFill>
                  <a:srgbClr val="FFFFFF"/>
                </a:solidFill>
                <a:latin typeface="Aptos"/>
              </a:rPr>
              <a:t>05</a:t>
            </a:r>
          </a:p>
        </p:txBody>
      </p:sp>
      <p:sp>
        <p:nvSpPr>
          <p:cNvPr id="27" name="TextBox 26"/>
          <p:cNvSpPr txBox="1"/>
          <p:nvPr/>
        </p:nvSpPr>
        <p:spPr>
          <a:xfrm>
            <a:off x="1554480" y="4974336"/>
            <a:ext cx="1645920" cy="228600"/>
          </a:xfrm>
          <a:prstGeom prst="rect">
            <a:avLst/>
          </a:prstGeom>
          <a:noFill/>
        </p:spPr>
        <p:txBody>
          <a:bodyPr wrap="square" lIns="0" rIns="0" tIns="0" bIns="0" anchor="t">
            <a:spAutoFit/>
          </a:bodyPr>
          <a:lstStyle/>
          <a:p>
            <a:pPr algn="l"/>
            <a:r>
              <a:rPr sz="1050" b="1">
                <a:solidFill>
                  <a:srgbClr val="647A0B"/>
                </a:solidFill>
                <a:latin typeface="Aptos"/>
              </a:rPr>
              <a:t>RENDEZ-VOUS</a:t>
            </a:r>
          </a:p>
        </p:txBody>
      </p:sp>
      <p:sp>
        <p:nvSpPr>
          <p:cNvPr id="28" name="TextBox 27"/>
          <p:cNvSpPr txBox="1"/>
          <p:nvPr/>
        </p:nvSpPr>
        <p:spPr>
          <a:xfrm>
            <a:off x="2944368" y="4965192"/>
            <a:ext cx="3337560" cy="438912"/>
          </a:xfrm>
          <a:prstGeom prst="rect">
            <a:avLst/>
          </a:prstGeom>
          <a:noFill/>
        </p:spPr>
        <p:txBody>
          <a:bodyPr wrap="square" lIns="0" rIns="0" tIns="0" bIns="0" anchor="t">
            <a:spAutoFit/>
          </a:bodyPr>
          <a:lstStyle/>
          <a:p>
            <a:pPr algn="l"/>
            <a:r>
              <a:rPr sz="1320" b="1">
                <a:solidFill>
                  <a:srgbClr val="27302A"/>
                </a:solidFill>
                <a:latin typeface="Aptos"/>
              </a:rPr>
              <a:t>Elle agit lorsqu’elle est prête.</a:t>
            </a:r>
          </a:p>
        </p:txBody>
      </p:sp>
      <p:sp>
        <p:nvSpPr>
          <p:cNvPr id="29" name="Rounded Rectangle 28"/>
          <p:cNvSpPr/>
          <p:nvPr/>
        </p:nvSpPr>
        <p:spPr>
          <a:xfrm>
            <a:off x="704088" y="5806440"/>
            <a:ext cx="5833872" cy="530352"/>
          </a:xfrm>
          <a:prstGeom prst="roundRect">
            <a:avLst/>
          </a:prstGeom>
          <a:solidFill>
            <a:srgbClr val="F4ECE7"/>
          </a:solidFill>
          <a:ln w="12700">
            <a:solidFill>
              <a:srgbClr val="DEC7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5806440"/>
            <a:ext cx="5376672" cy="530352"/>
          </a:xfrm>
          <a:prstGeom prst="rect">
            <a:avLst/>
          </a:prstGeom>
          <a:noFill/>
        </p:spPr>
        <p:txBody>
          <a:bodyPr wrap="square" lIns="0" rIns="0" tIns="0" bIns="0" anchor="ctr">
            <a:spAutoFit/>
          </a:bodyPr>
          <a:lstStyle/>
          <a:p>
            <a:pPr algn="ctr"/>
            <a:r>
              <a:rPr sz="1400" b="1">
                <a:solidFill>
                  <a:srgbClr val="6B3E2D"/>
                </a:solidFill>
                <a:latin typeface="Aptos"/>
              </a:rPr>
              <a:t>Une étape utile avant une étape engageante.</a:t>
            </a:r>
          </a:p>
        </p:txBody>
      </p:sp>
      <p:sp>
        <p:nvSpPr>
          <p:cNvPr id="31" name="Rounded Rectangle 30"/>
          <p:cNvSpPr/>
          <p:nvPr/>
        </p:nvSpPr>
        <p:spPr>
          <a:xfrm>
            <a:off x="7333488" y="1261872"/>
            <a:ext cx="3931920" cy="5230368"/>
          </a:xfrm>
          <a:prstGeom prst="roundRect">
            <a:avLst/>
          </a:prstGeom>
          <a:solidFill>
            <a:srgbClr val="F7F9EC"/>
          </a:solidFill>
          <a:ln w="12700">
            <a:solidFill>
              <a:srgbClr val="D8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35240" y="1572768"/>
            <a:ext cx="1600200" cy="256032"/>
          </a:xfrm>
          <a:prstGeom prst="rect">
            <a:avLst/>
          </a:prstGeom>
          <a:noFill/>
        </p:spPr>
        <p:txBody>
          <a:bodyPr wrap="square" lIns="0" rIns="0" tIns="0" bIns="0" anchor="t">
            <a:spAutoFit/>
          </a:bodyPr>
          <a:lstStyle/>
          <a:p>
            <a:pPr algn="l"/>
            <a:r>
              <a:rPr sz="900" b="1">
                <a:solidFill>
                  <a:srgbClr val="854F38"/>
                </a:solidFill>
                <a:latin typeface="Aptos"/>
              </a:rPr>
              <a:t>CÔTÉ VISITEUR</a:t>
            </a:r>
          </a:p>
        </p:txBody>
      </p:sp>
      <p:sp>
        <p:nvSpPr>
          <p:cNvPr id="33" name="TextBox 32"/>
          <p:cNvSpPr txBox="1"/>
          <p:nvPr/>
        </p:nvSpPr>
        <p:spPr>
          <a:xfrm>
            <a:off x="7635240" y="1874519"/>
            <a:ext cx="2011680" cy="713232"/>
          </a:xfrm>
          <a:prstGeom prst="rect">
            <a:avLst/>
          </a:prstGeom>
          <a:noFill/>
        </p:spPr>
        <p:txBody>
          <a:bodyPr wrap="square" lIns="0" rIns="0" tIns="0" bIns="0" anchor="t">
            <a:spAutoFit/>
          </a:bodyPr>
          <a:lstStyle/>
          <a:p>
            <a:pPr algn="l"/>
            <a:r>
              <a:rPr sz="1800" b="1">
                <a:solidFill>
                  <a:srgbClr val="2F3B24"/>
                </a:solidFill>
                <a:latin typeface="Aptos Display"/>
              </a:rPr>
              <a:t>Une page, une promesse,
une seule action.</a:t>
            </a:r>
          </a:p>
        </p:txBody>
      </p:sp>
      <p:sp>
        <p:nvSpPr>
          <p:cNvPr id="34" name="Rounded Rectangle 33"/>
          <p:cNvSpPr/>
          <p:nvPr/>
        </p:nvSpPr>
        <p:spPr>
          <a:xfrm>
            <a:off x="9418320" y="1499616"/>
            <a:ext cx="1444752" cy="4526280"/>
          </a:xfrm>
          <a:prstGeom prst="roundRect">
            <a:avLst/>
          </a:prstGeom>
          <a:solidFill>
            <a:srgbClr val="111511"/>
          </a:solidFill>
          <a:ln w="127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parcours-offre-capture-mobile.png"/>
          <p:cNvPicPr>
            <a:picLocks noChangeAspect="1"/>
          </p:cNvPicPr>
          <p:nvPr/>
        </p:nvPicPr>
        <p:blipFill>
          <a:blip r:embed="rId2"/>
          <a:stretch>
            <a:fillRect/>
          </a:stretch>
        </p:blipFill>
        <p:spPr>
          <a:xfrm>
            <a:off x="9509760" y="2396569"/>
            <a:ext cx="1261872" cy="2732373"/>
          </a:xfrm>
          <a:prstGeom prst="rect">
            <a:avLst/>
          </a:prstGeom>
        </p:spPr>
      </p:pic>
      <p:sp>
        <p:nvSpPr>
          <p:cNvPr id="36" name="Rounded Rectangle 35"/>
          <p:cNvSpPr/>
          <p:nvPr/>
        </p:nvSpPr>
        <p:spPr>
          <a:xfrm>
            <a:off x="9909535" y="1554480"/>
            <a:ext cx="462320" cy="73152"/>
          </a:xfrm>
          <a:prstGeom prst="roundRect">
            <a:avLst/>
          </a:prstGeom>
          <a:solidFill>
            <a:srgbClr val="11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635240" y="3017520"/>
            <a:ext cx="1572768" cy="384048"/>
          </a:xfrm>
          <a:prstGeom prst="roundRect">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35240" y="3017520"/>
            <a:ext cx="1572768" cy="384048"/>
          </a:xfrm>
          <a:prstGeom prst="rect">
            <a:avLst/>
          </a:prstGeom>
          <a:noFill/>
        </p:spPr>
        <p:txBody>
          <a:bodyPr wrap="square" lIns="0" rIns="0" tIns="0" bIns="0" anchor="ctr">
            <a:spAutoFit/>
          </a:bodyPr>
          <a:lstStyle/>
          <a:p>
            <a:pPr algn="ctr"/>
            <a:r>
              <a:rPr sz="850" b="1">
                <a:solidFill>
                  <a:srgbClr val="FFFFFF"/>
                </a:solidFill>
                <a:latin typeface="Aptos"/>
              </a:rPr>
              <a:t>RESSOURCE GRATUITE</a:t>
            </a:r>
          </a:p>
        </p:txBody>
      </p:sp>
      <p:sp>
        <p:nvSpPr>
          <p:cNvPr id="39" name="TextBox 38"/>
          <p:cNvSpPr txBox="1"/>
          <p:nvPr/>
        </p:nvSpPr>
        <p:spPr>
          <a:xfrm>
            <a:off x="7635240" y="3657600"/>
            <a:ext cx="1572768" cy="1234440"/>
          </a:xfrm>
          <a:prstGeom prst="rect">
            <a:avLst/>
          </a:prstGeom>
          <a:noFill/>
        </p:spPr>
        <p:txBody>
          <a:bodyPr wrap="square" lIns="0" rIns="0" tIns="0" bIns="0" anchor="t">
            <a:spAutoFit/>
          </a:bodyPr>
          <a:lstStyle/>
          <a:p>
            <a:pPr algn="l"/>
            <a:r>
              <a:rPr sz="1220" b="1">
                <a:solidFill>
                  <a:srgbClr val="667064"/>
                </a:solidFill>
                <a:latin typeface="Aptos"/>
              </a:rPr>
              <a:t>Formulaire court
Consentement clair
Prochaine étape visible</a:t>
            </a:r>
          </a:p>
        </p:txBody>
      </p:sp>
      <p:sp>
        <p:nvSpPr>
          <p:cNvPr id="40" name="TextBox 39"/>
          <p:cNvSpPr txBox="1"/>
          <p:nvPr/>
        </p:nvSpPr>
        <p:spPr>
          <a:xfrm>
            <a:off x="658368" y="6537960"/>
            <a:ext cx="4297680" cy="164592"/>
          </a:xfrm>
          <a:prstGeom prst="rect">
            <a:avLst/>
          </a:prstGeom>
          <a:noFill/>
        </p:spPr>
        <p:txBody>
          <a:bodyPr wrap="square" lIns="0" rIns="0" tIns="0" bIns="0" anchor="t">
            <a:spAutoFit/>
          </a:bodyPr>
          <a:lstStyle/>
          <a:p>
            <a:pPr algn="l"/>
            <a:r>
              <a:rPr sz="850" b="1">
                <a:solidFill>
                  <a:srgbClr val="85907F"/>
                </a:solidFill>
                <a:latin typeface="Aptos"/>
              </a:rPr>
              <a:t>OLITHEA  •  OFFRE &amp; PROSPECTION</a:t>
            </a:r>
          </a:p>
        </p:txBody>
      </p:sp>
      <p:sp>
        <p:nvSpPr>
          <p:cNvPr id="41" name="TextBox 40"/>
          <p:cNvSpPr txBox="1"/>
          <p:nvPr/>
        </p:nvSpPr>
        <p:spPr>
          <a:xfrm>
            <a:off x="11064240" y="6510528"/>
            <a:ext cx="457200" cy="201168"/>
          </a:xfrm>
          <a:prstGeom prst="rect">
            <a:avLst/>
          </a:prstGeom>
          <a:noFill/>
        </p:spPr>
        <p:txBody>
          <a:bodyPr wrap="square" lIns="0" rIns="0" tIns="0" bIns="0" anchor="t">
            <a:spAutoFit/>
          </a:bodyPr>
          <a:lstStyle/>
          <a:p>
            <a:pPr algn="r"/>
            <a:r>
              <a:rPr sz="900" b="1">
                <a:solidFill>
                  <a:srgbClr val="85907F"/>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F3B24"/>
        </a:solidFill>
        <a:effectLst/>
      </p:bgPr>
    </p:bg>
    <p:spTree>
      <p:nvGrpSpPr>
        <p:cNvPr id="1" name=""/>
        <p:cNvGrpSpPr/>
        <p:nvPr/>
      </p:nvGrpSpPr>
      <p:grpSpPr/>
      <p:sp>
        <p:nvSpPr>
          <p:cNvPr id="2" name="TextBox 1"/>
          <p:cNvSpPr txBox="1"/>
          <p:nvPr/>
        </p:nvSpPr>
        <p:spPr>
          <a:xfrm>
            <a:off x="658368" y="420624"/>
            <a:ext cx="5486400" cy="274320"/>
          </a:xfrm>
          <a:prstGeom prst="rect">
            <a:avLst/>
          </a:prstGeom>
          <a:noFill/>
        </p:spPr>
        <p:txBody>
          <a:bodyPr wrap="square" lIns="0" rIns="0" tIns="0" bIns="0" anchor="t">
            <a:spAutoFit/>
          </a:bodyPr>
          <a:lstStyle/>
          <a:p>
            <a:pPr algn="l"/>
            <a:r>
              <a:rPr sz="1050" b="1">
                <a:solidFill>
                  <a:srgbClr val="EEF3DD"/>
                </a:solidFill>
                <a:latin typeface="Aptos"/>
              </a:rPr>
              <a:t>LE TUNNEL LE PLUS SIMPLE</a:t>
            </a:r>
          </a:p>
        </p:txBody>
      </p:sp>
      <p:sp>
        <p:nvSpPr>
          <p:cNvPr id="3" name="TextBox 2"/>
          <p:cNvSpPr txBox="1"/>
          <p:nvPr/>
        </p:nvSpPr>
        <p:spPr>
          <a:xfrm>
            <a:off x="658368" y="713232"/>
            <a:ext cx="10789920" cy="731520"/>
          </a:xfrm>
          <a:prstGeom prst="rect">
            <a:avLst/>
          </a:prstGeom>
          <a:noFill/>
        </p:spPr>
        <p:txBody>
          <a:bodyPr wrap="square" lIns="0" rIns="0" tIns="0" bIns="0" anchor="t">
            <a:spAutoFit/>
          </a:bodyPr>
          <a:lstStyle/>
          <a:p>
            <a:pPr algn="l"/>
            <a:r>
              <a:rPr sz="2900" b="1">
                <a:solidFill>
                  <a:srgbClr val="FFFFFF"/>
                </a:solidFill>
                <a:latin typeface="Aptos Display"/>
              </a:rPr>
              <a:t>Une ressource. Trois messages. Une invitation.</a:t>
            </a:r>
          </a:p>
        </p:txBody>
      </p:sp>
      <p:sp>
        <p:nvSpPr>
          <p:cNvPr id="4" name="TextBox 3"/>
          <p:cNvSpPr txBox="1"/>
          <p:nvPr/>
        </p:nvSpPr>
        <p:spPr>
          <a:xfrm>
            <a:off x="676656" y="1298448"/>
            <a:ext cx="5669280" cy="320040"/>
          </a:xfrm>
          <a:prstGeom prst="rect">
            <a:avLst/>
          </a:prstGeom>
          <a:noFill/>
        </p:spPr>
        <p:txBody>
          <a:bodyPr wrap="square" lIns="0" rIns="0" tIns="0" bIns="0" anchor="t">
            <a:spAutoFit/>
          </a:bodyPr>
          <a:lstStyle/>
          <a:p>
            <a:pPr algn="l"/>
            <a:r>
              <a:rPr sz="1100" b="1">
                <a:solidFill>
                  <a:srgbClr val="C7D5B7"/>
                </a:solidFill>
                <a:latin typeface="Aptos"/>
              </a:rPr>
              <a:t>INFORMER  →  RASSURER  →  INVITER</a:t>
            </a:r>
          </a:p>
        </p:txBody>
      </p:sp>
      <p:sp>
        <p:nvSpPr>
          <p:cNvPr id="5" name="Rounded Rectangle 4"/>
          <p:cNvSpPr/>
          <p:nvPr/>
        </p:nvSpPr>
        <p:spPr>
          <a:xfrm>
            <a:off x="758952" y="1929384"/>
            <a:ext cx="3182112" cy="2286000"/>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04088" y="1874519"/>
            <a:ext cx="3182112" cy="2286000"/>
          </a:xfrm>
          <a:prstGeom prst="roundRect">
            <a:avLst/>
          </a:prstGeom>
          <a:solidFill>
            <a:srgbClr val="F7F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2139696"/>
            <a:ext cx="640080" cy="384048"/>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39696"/>
            <a:ext cx="640080" cy="384048"/>
          </a:xfrm>
          <a:prstGeom prst="rect">
            <a:avLst/>
          </a:prstGeom>
          <a:noFill/>
        </p:spPr>
        <p:txBody>
          <a:bodyPr wrap="square" lIns="0" rIns="0" tIns="0" bIns="0" anchor="ctr">
            <a:spAutoFit/>
          </a:bodyPr>
          <a:lstStyle/>
          <a:p>
            <a:pPr algn="ctr"/>
            <a:r>
              <a:rPr sz="900" b="1">
                <a:solidFill>
                  <a:srgbClr val="FFFFFF"/>
                </a:solidFill>
                <a:latin typeface="Aptos"/>
              </a:rPr>
              <a:t>J0</a:t>
            </a:r>
          </a:p>
        </p:txBody>
      </p:sp>
      <p:sp>
        <p:nvSpPr>
          <p:cNvPr id="9" name="TextBox 8"/>
          <p:cNvSpPr txBox="1"/>
          <p:nvPr/>
        </p:nvSpPr>
        <p:spPr>
          <a:xfrm>
            <a:off x="1783080" y="2185416"/>
            <a:ext cx="1600200" cy="228600"/>
          </a:xfrm>
          <a:prstGeom prst="rect">
            <a:avLst/>
          </a:prstGeom>
          <a:noFill/>
        </p:spPr>
        <p:txBody>
          <a:bodyPr wrap="square" lIns="0" rIns="0" tIns="0" bIns="0" anchor="t">
            <a:spAutoFit/>
          </a:bodyPr>
          <a:lstStyle/>
          <a:p>
            <a:pPr algn="l"/>
            <a:r>
              <a:rPr sz="1050" b="1">
                <a:solidFill>
                  <a:srgbClr val="647A0B"/>
                </a:solidFill>
                <a:latin typeface="Aptos"/>
              </a:rPr>
              <a:t>REMETTRE</a:t>
            </a:r>
          </a:p>
        </p:txBody>
      </p:sp>
      <p:sp>
        <p:nvSpPr>
          <p:cNvPr id="10" name="TextBox 9"/>
          <p:cNvSpPr txBox="1"/>
          <p:nvPr/>
        </p:nvSpPr>
        <p:spPr>
          <a:xfrm>
            <a:off x="987552" y="2761488"/>
            <a:ext cx="2578608" cy="822960"/>
          </a:xfrm>
          <a:prstGeom prst="rect">
            <a:avLst/>
          </a:prstGeom>
          <a:noFill/>
        </p:spPr>
        <p:txBody>
          <a:bodyPr wrap="square" lIns="0" rIns="0" tIns="0" bIns="0" anchor="t">
            <a:spAutoFit/>
          </a:bodyPr>
          <a:lstStyle/>
          <a:p>
            <a:pPr algn="ctr"/>
            <a:r>
              <a:rPr sz="1800" b="1">
                <a:solidFill>
                  <a:srgbClr val="2F3B24"/>
                </a:solidFill>
                <a:latin typeface="Aptos Display"/>
              </a:rPr>
              <a:t>La ressource
+ un petit résultat</a:t>
            </a:r>
          </a:p>
        </p:txBody>
      </p:sp>
      <p:sp>
        <p:nvSpPr>
          <p:cNvPr id="11" name="Chevron 10"/>
          <p:cNvSpPr/>
          <p:nvPr/>
        </p:nvSpPr>
        <p:spPr>
          <a:xfrm>
            <a:off x="4087368" y="2697480"/>
            <a:ext cx="274320" cy="493776"/>
          </a:xfrm>
          <a:prstGeom prst="chevron">
            <a:avLst/>
          </a:prstGeom>
          <a:solidFill>
            <a:srgbClr val="8FA1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81143" y="1929384"/>
            <a:ext cx="3182112" cy="2286000"/>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26279" y="1874519"/>
            <a:ext cx="3182112" cy="2286000"/>
          </a:xfrm>
          <a:prstGeom prst="roundRect">
            <a:avLst/>
          </a:prstGeom>
          <a:solidFill>
            <a:srgbClr val="F7F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782312" y="2139696"/>
            <a:ext cx="640080" cy="384048"/>
          </a:xfrm>
          <a:prstGeom prst="roundRect">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139696"/>
            <a:ext cx="640080" cy="384048"/>
          </a:xfrm>
          <a:prstGeom prst="rect">
            <a:avLst/>
          </a:prstGeom>
          <a:noFill/>
        </p:spPr>
        <p:txBody>
          <a:bodyPr wrap="square" lIns="0" rIns="0" tIns="0" bIns="0" anchor="ctr">
            <a:spAutoFit/>
          </a:bodyPr>
          <a:lstStyle/>
          <a:p>
            <a:pPr algn="ctr"/>
            <a:r>
              <a:rPr sz="900" b="1">
                <a:solidFill>
                  <a:srgbClr val="FFFFFF"/>
                </a:solidFill>
                <a:latin typeface="Aptos"/>
              </a:rPr>
              <a:t>J+2</a:t>
            </a:r>
          </a:p>
        </p:txBody>
      </p:sp>
      <p:sp>
        <p:nvSpPr>
          <p:cNvPr id="16" name="TextBox 15"/>
          <p:cNvSpPr txBox="1"/>
          <p:nvPr/>
        </p:nvSpPr>
        <p:spPr>
          <a:xfrm>
            <a:off x="5605271" y="2185416"/>
            <a:ext cx="1600200" cy="228600"/>
          </a:xfrm>
          <a:prstGeom prst="rect">
            <a:avLst/>
          </a:prstGeom>
          <a:noFill/>
        </p:spPr>
        <p:txBody>
          <a:bodyPr wrap="square" lIns="0" rIns="0" tIns="0" bIns="0" anchor="t">
            <a:spAutoFit/>
          </a:bodyPr>
          <a:lstStyle/>
          <a:p>
            <a:pPr algn="l"/>
            <a:r>
              <a:rPr sz="1050" b="1">
                <a:solidFill>
                  <a:srgbClr val="854F38"/>
                </a:solidFill>
                <a:latin typeface="Aptos"/>
              </a:rPr>
              <a:t>EXPLIQUER</a:t>
            </a:r>
          </a:p>
        </p:txBody>
      </p:sp>
      <p:sp>
        <p:nvSpPr>
          <p:cNvPr id="17" name="TextBox 16"/>
          <p:cNvSpPr txBox="1"/>
          <p:nvPr/>
        </p:nvSpPr>
        <p:spPr>
          <a:xfrm>
            <a:off x="4809743" y="2761488"/>
            <a:ext cx="2578608" cy="822960"/>
          </a:xfrm>
          <a:prstGeom prst="rect">
            <a:avLst/>
          </a:prstGeom>
          <a:noFill/>
        </p:spPr>
        <p:txBody>
          <a:bodyPr wrap="square" lIns="0" rIns="0" tIns="0" bIns="0" anchor="t">
            <a:spAutoFit/>
          </a:bodyPr>
          <a:lstStyle/>
          <a:p>
            <a:pPr algn="ctr"/>
            <a:r>
              <a:rPr sz="1800" b="1">
                <a:solidFill>
                  <a:srgbClr val="2F3B24"/>
                </a:solidFill>
                <a:latin typeface="Aptos Display"/>
              </a:rPr>
              <a:t>Une difficulté
+ une réponse utile</a:t>
            </a:r>
          </a:p>
        </p:txBody>
      </p:sp>
      <p:sp>
        <p:nvSpPr>
          <p:cNvPr id="18" name="Chevron 17"/>
          <p:cNvSpPr/>
          <p:nvPr/>
        </p:nvSpPr>
        <p:spPr>
          <a:xfrm>
            <a:off x="7909559" y="2697480"/>
            <a:ext cx="274320" cy="493776"/>
          </a:xfrm>
          <a:prstGeom prst="chevron">
            <a:avLst/>
          </a:prstGeom>
          <a:solidFill>
            <a:srgbClr val="8FA1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03336" y="1929384"/>
            <a:ext cx="3182112" cy="2286000"/>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348471" y="1874519"/>
            <a:ext cx="3182112" cy="2286000"/>
          </a:xfrm>
          <a:prstGeom prst="roundRect">
            <a:avLst/>
          </a:prstGeom>
          <a:solidFill>
            <a:srgbClr val="F7F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04503" y="2139696"/>
            <a:ext cx="640080" cy="384048"/>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04503" y="2139696"/>
            <a:ext cx="640080" cy="384048"/>
          </a:xfrm>
          <a:prstGeom prst="rect">
            <a:avLst/>
          </a:prstGeom>
          <a:noFill/>
        </p:spPr>
        <p:txBody>
          <a:bodyPr wrap="square" lIns="0" rIns="0" tIns="0" bIns="0" anchor="ctr">
            <a:spAutoFit/>
          </a:bodyPr>
          <a:lstStyle/>
          <a:p>
            <a:pPr algn="ctr"/>
            <a:r>
              <a:rPr sz="900" b="1">
                <a:solidFill>
                  <a:srgbClr val="FFFFFF"/>
                </a:solidFill>
                <a:latin typeface="Aptos"/>
              </a:rPr>
              <a:t>J+4</a:t>
            </a:r>
          </a:p>
        </p:txBody>
      </p:sp>
      <p:sp>
        <p:nvSpPr>
          <p:cNvPr id="23" name="TextBox 22"/>
          <p:cNvSpPr txBox="1"/>
          <p:nvPr/>
        </p:nvSpPr>
        <p:spPr>
          <a:xfrm>
            <a:off x="9427463" y="2185416"/>
            <a:ext cx="1600200" cy="228600"/>
          </a:xfrm>
          <a:prstGeom prst="rect">
            <a:avLst/>
          </a:prstGeom>
          <a:noFill/>
        </p:spPr>
        <p:txBody>
          <a:bodyPr wrap="square" lIns="0" rIns="0" tIns="0" bIns="0" anchor="t">
            <a:spAutoFit/>
          </a:bodyPr>
          <a:lstStyle/>
          <a:p>
            <a:pPr algn="l"/>
            <a:r>
              <a:rPr sz="1050" b="1">
                <a:solidFill>
                  <a:srgbClr val="647A0B"/>
                </a:solidFill>
                <a:latin typeface="Aptos"/>
              </a:rPr>
              <a:t>PROPOSER</a:t>
            </a:r>
          </a:p>
        </p:txBody>
      </p:sp>
      <p:sp>
        <p:nvSpPr>
          <p:cNvPr id="24" name="TextBox 23"/>
          <p:cNvSpPr txBox="1"/>
          <p:nvPr/>
        </p:nvSpPr>
        <p:spPr>
          <a:xfrm>
            <a:off x="8631936" y="2761488"/>
            <a:ext cx="2578608" cy="822960"/>
          </a:xfrm>
          <a:prstGeom prst="rect">
            <a:avLst/>
          </a:prstGeom>
          <a:noFill/>
        </p:spPr>
        <p:txBody>
          <a:bodyPr wrap="square" lIns="0" rIns="0" tIns="0" bIns="0" anchor="t">
            <a:spAutoFit/>
          </a:bodyPr>
          <a:lstStyle/>
          <a:p>
            <a:pPr algn="ctr"/>
            <a:r>
              <a:rPr sz="1800" b="1">
                <a:solidFill>
                  <a:srgbClr val="2F3B24"/>
                </a:solidFill>
                <a:latin typeface="Aptos Display"/>
              </a:rPr>
              <a:t>L’offre
+ la prochaine étape</a:t>
            </a:r>
          </a:p>
        </p:txBody>
      </p:sp>
      <p:sp>
        <p:nvSpPr>
          <p:cNvPr id="25" name="Rounded Rectangle 24"/>
          <p:cNvSpPr/>
          <p:nvPr/>
        </p:nvSpPr>
        <p:spPr>
          <a:xfrm>
            <a:off x="713232" y="4608576"/>
            <a:ext cx="10771632" cy="1252728"/>
          </a:xfrm>
          <a:prstGeom prst="roundRect">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864608"/>
            <a:ext cx="1325880" cy="228600"/>
          </a:xfrm>
          <a:prstGeom prst="rect">
            <a:avLst/>
          </a:prstGeom>
          <a:noFill/>
        </p:spPr>
        <p:txBody>
          <a:bodyPr wrap="square" lIns="0" rIns="0" tIns="0" bIns="0" anchor="t">
            <a:spAutoFit/>
          </a:bodyPr>
          <a:lstStyle/>
          <a:p>
            <a:pPr algn="l"/>
            <a:r>
              <a:rPr sz="1000" b="1">
                <a:solidFill>
                  <a:srgbClr val="F1DCD2"/>
                </a:solidFill>
                <a:latin typeface="Aptos"/>
              </a:rPr>
              <a:t>NEWSLETTER</a:t>
            </a:r>
          </a:p>
        </p:txBody>
      </p:sp>
      <p:sp>
        <p:nvSpPr>
          <p:cNvPr id="27" name="TextBox 26"/>
          <p:cNvSpPr txBox="1"/>
          <p:nvPr/>
        </p:nvSpPr>
        <p:spPr>
          <a:xfrm>
            <a:off x="2322576" y="4791456"/>
            <a:ext cx="4526280" cy="384048"/>
          </a:xfrm>
          <a:prstGeom prst="rect">
            <a:avLst/>
          </a:prstGeom>
          <a:noFill/>
        </p:spPr>
        <p:txBody>
          <a:bodyPr wrap="square" lIns="0" rIns="0" tIns="0" bIns="0" anchor="t">
            <a:spAutoFit/>
          </a:bodyPr>
          <a:lstStyle/>
          <a:p>
            <a:pPr algn="l"/>
            <a:r>
              <a:rPr sz="2000" b="1">
                <a:solidFill>
                  <a:srgbClr val="FFFFFF"/>
                </a:solidFill>
                <a:latin typeface="Aptos Display"/>
              </a:rPr>
              <a:t>Rester présent, sans repartir de zéro.</a:t>
            </a:r>
          </a:p>
        </p:txBody>
      </p:sp>
      <p:sp>
        <p:nvSpPr>
          <p:cNvPr id="28" name="TextBox 27"/>
          <p:cNvSpPr txBox="1"/>
          <p:nvPr/>
        </p:nvSpPr>
        <p:spPr>
          <a:xfrm>
            <a:off x="7059168" y="4855464"/>
            <a:ext cx="3822191" cy="274320"/>
          </a:xfrm>
          <a:prstGeom prst="rect">
            <a:avLst/>
          </a:prstGeom>
          <a:noFill/>
        </p:spPr>
        <p:txBody>
          <a:bodyPr wrap="square" lIns="0" rIns="0" tIns="0" bIns="0" anchor="t">
            <a:spAutoFit/>
          </a:bodyPr>
          <a:lstStyle/>
          <a:p>
            <a:pPr algn="r"/>
            <a:r>
              <a:rPr sz="1150" b="1">
                <a:solidFill>
                  <a:srgbClr val="F3DED5"/>
                </a:solidFill>
                <a:latin typeface="Aptos"/>
              </a:rPr>
              <a:t>1 situation  •  1 conseil  •  1 prochaine étape</a:t>
            </a:r>
          </a:p>
        </p:txBody>
      </p:sp>
      <p:sp>
        <p:nvSpPr>
          <p:cNvPr id="29" name="TextBox 28"/>
          <p:cNvSpPr txBox="1"/>
          <p:nvPr/>
        </p:nvSpPr>
        <p:spPr>
          <a:xfrm>
            <a:off x="786384" y="6099048"/>
            <a:ext cx="10561320" cy="301752"/>
          </a:xfrm>
          <a:prstGeom prst="rect">
            <a:avLst/>
          </a:prstGeom>
          <a:noFill/>
        </p:spPr>
        <p:txBody>
          <a:bodyPr wrap="square" lIns="0" rIns="0" tIns="0" bIns="0" anchor="t">
            <a:spAutoFit/>
          </a:bodyPr>
          <a:lstStyle/>
          <a:p>
            <a:pPr algn="ctr"/>
            <a:r>
              <a:rPr sz="1420" b="1">
                <a:solidFill>
                  <a:srgbClr val="D3DEC5"/>
                </a:solidFill>
                <a:latin typeface="Aptos"/>
              </a:rPr>
              <a:t>La ressource crée le contact. Le suivi crée la relation.</a:t>
            </a:r>
          </a:p>
        </p:txBody>
      </p:sp>
      <p:sp>
        <p:nvSpPr>
          <p:cNvPr id="30" name="TextBox 29"/>
          <p:cNvSpPr txBox="1"/>
          <p:nvPr/>
        </p:nvSpPr>
        <p:spPr>
          <a:xfrm>
            <a:off x="658368" y="6537960"/>
            <a:ext cx="4297680" cy="164592"/>
          </a:xfrm>
          <a:prstGeom prst="rect">
            <a:avLst/>
          </a:prstGeom>
          <a:noFill/>
        </p:spPr>
        <p:txBody>
          <a:bodyPr wrap="square" lIns="0" rIns="0" tIns="0" bIns="0" anchor="t">
            <a:spAutoFit/>
          </a:bodyPr>
          <a:lstStyle/>
          <a:p>
            <a:pPr algn="l"/>
            <a:r>
              <a:rPr sz="850" b="1">
                <a:solidFill>
                  <a:srgbClr val="C7D0BB"/>
                </a:solidFill>
                <a:latin typeface="Aptos"/>
              </a:rPr>
              <a:t>OLITHEA  •  OFFRE &amp; PROSPECTION</a:t>
            </a:r>
          </a:p>
        </p:txBody>
      </p:sp>
      <p:sp>
        <p:nvSpPr>
          <p:cNvPr id="31" name="TextBox 30"/>
          <p:cNvSpPr txBox="1"/>
          <p:nvPr/>
        </p:nvSpPr>
        <p:spPr>
          <a:xfrm>
            <a:off x="11064240" y="6510528"/>
            <a:ext cx="457200" cy="201168"/>
          </a:xfrm>
          <a:prstGeom prst="rect">
            <a:avLst/>
          </a:prstGeom>
          <a:noFill/>
        </p:spPr>
        <p:txBody>
          <a:bodyPr wrap="square" lIns="0" rIns="0" tIns="0" bIns="0" anchor="t">
            <a:spAutoFit/>
          </a:bodyPr>
          <a:lstStyle/>
          <a:p>
            <a:pPr algn="r"/>
            <a:r>
              <a:rPr sz="900" b="1">
                <a:solidFill>
                  <a:srgbClr val="C7D0BB"/>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EC"/>
        </a:solidFill>
        <a:effectLst/>
      </p:bgPr>
    </p:bg>
    <p:spTree>
      <p:nvGrpSpPr>
        <p:cNvPr id="1" name=""/>
        <p:cNvGrpSpPr/>
        <p:nvPr/>
      </p:nvGrpSpPr>
      <p:grpSpPr/>
      <p:sp>
        <p:nvSpPr>
          <p:cNvPr id="2" name="TextBox 1"/>
          <p:cNvSpPr txBox="1"/>
          <p:nvPr/>
        </p:nvSpPr>
        <p:spPr>
          <a:xfrm>
            <a:off x="658368" y="420624"/>
            <a:ext cx="5486400" cy="274320"/>
          </a:xfrm>
          <a:prstGeom prst="rect">
            <a:avLst/>
          </a:prstGeom>
          <a:noFill/>
        </p:spPr>
        <p:txBody>
          <a:bodyPr wrap="square" lIns="0" rIns="0" tIns="0" bIns="0" anchor="t">
            <a:spAutoFit/>
          </a:bodyPr>
          <a:lstStyle/>
          <a:p>
            <a:pPr algn="l"/>
            <a:r>
              <a:rPr sz="1050" b="1">
                <a:solidFill>
                  <a:srgbClr val="647A0B"/>
                </a:solidFill>
                <a:latin typeface="Aptos"/>
              </a:rPr>
              <a:t>LA DIFFÉRENCE OLITHEA</a:t>
            </a:r>
          </a:p>
        </p:txBody>
      </p:sp>
      <p:sp>
        <p:nvSpPr>
          <p:cNvPr id="3" name="TextBox 2"/>
          <p:cNvSpPr txBox="1"/>
          <p:nvPr/>
        </p:nvSpPr>
        <p:spPr>
          <a:xfrm>
            <a:off x="658368" y="713232"/>
            <a:ext cx="10789920" cy="731520"/>
          </a:xfrm>
          <a:prstGeom prst="rect">
            <a:avLst/>
          </a:prstGeom>
          <a:noFill/>
        </p:spPr>
        <p:txBody>
          <a:bodyPr wrap="square" lIns="0" rIns="0" tIns="0" bIns="0" anchor="t">
            <a:spAutoFit/>
          </a:bodyPr>
          <a:lstStyle/>
          <a:p>
            <a:pPr algn="l"/>
            <a:r>
              <a:rPr sz="2900" b="1">
                <a:solidFill>
                  <a:srgbClr val="2F3B24"/>
                </a:solidFill>
                <a:latin typeface="Aptos Display"/>
              </a:rPr>
              <a:t>Deux portes d’entrée. Un seul environnement.</a:t>
            </a:r>
          </a:p>
        </p:txBody>
      </p:sp>
      <p:sp>
        <p:nvSpPr>
          <p:cNvPr id="4" name="Rounded Rectangle 3"/>
          <p:cNvSpPr/>
          <p:nvPr/>
        </p:nvSpPr>
        <p:spPr>
          <a:xfrm>
            <a:off x="749808" y="1682496"/>
            <a:ext cx="3063240" cy="1353312"/>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627632"/>
            <a:ext cx="3063240" cy="1353312"/>
          </a:xfrm>
          <a:prstGeom prst="roundRect">
            <a:avLst/>
          </a:prstGeom>
          <a:solidFill>
            <a:srgbClr val="FFFFFF"/>
          </a:solidFill>
          <a:ln w="12700">
            <a:solidFill>
              <a:srgbClr val="C7D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32688" y="1883664"/>
            <a:ext cx="1188720" cy="347472"/>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883664"/>
            <a:ext cx="1188720" cy="347472"/>
          </a:xfrm>
          <a:prstGeom prst="rect">
            <a:avLst/>
          </a:prstGeom>
          <a:noFill/>
        </p:spPr>
        <p:txBody>
          <a:bodyPr wrap="square" lIns="0" rIns="0" tIns="0" bIns="0" anchor="ctr">
            <a:spAutoFit/>
          </a:bodyPr>
          <a:lstStyle/>
          <a:p>
            <a:pPr algn="ctr"/>
            <a:r>
              <a:rPr sz="850" b="1">
                <a:solidFill>
                  <a:srgbClr val="FFFFFF"/>
                </a:solidFill>
                <a:latin typeface="Aptos"/>
              </a:rPr>
              <a:t>JE SUIS PRÊT</a:t>
            </a:r>
          </a:p>
        </p:txBody>
      </p:sp>
      <p:sp>
        <p:nvSpPr>
          <p:cNvPr id="8" name="TextBox 7"/>
          <p:cNvSpPr txBox="1"/>
          <p:nvPr/>
        </p:nvSpPr>
        <p:spPr>
          <a:xfrm>
            <a:off x="932688" y="2340864"/>
            <a:ext cx="2331720" cy="292608"/>
          </a:xfrm>
          <a:prstGeom prst="rect">
            <a:avLst/>
          </a:prstGeom>
          <a:noFill/>
        </p:spPr>
        <p:txBody>
          <a:bodyPr wrap="square" lIns="0" rIns="0" tIns="0" bIns="0" anchor="t">
            <a:spAutoFit/>
          </a:bodyPr>
          <a:lstStyle/>
          <a:p>
            <a:pPr algn="l"/>
            <a:r>
              <a:rPr sz="1500" b="1">
                <a:solidFill>
                  <a:srgbClr val="2F3B24"/>
                </a:solidFill>
                <a:latin typeface="Aptos"/>
              </a:rPr>
              <a:t>Portail → rendez-vous</a:t>
            </a:r>
          </a:p>
        </p:txBody>
      </p:sp>
      <p:sp>
        <p:nvSpPr>
          <p:cNvPr id="9" name="Rounded Rectangle 8"/>
          <p:cNvSpPr/>
          <p:nvPr/>
        </p:nvSpPr>
        <p:spPr>
          <a:xfrm>
            <a:off x="749808" y="3941063"/>
            <a:ext cx="3063240" cy="1353312"/>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94944" y="3886200"/>
            <a:ext cx="3063240" cy="1353312"/>
          </a:xfrm>
          <a:prstGeom prst="roundRect">
            <a:avLst/>
          </a:prstGeom>
          <a:solidFill>
            <a:srgbClr val="FFFFFF"/>
          </a:solidFill>
          <a:ln w="12700">
            <a:solidFill>
              <a:srgbClr val="DFC8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4142232"/>
            <a:ext cx="1298448" cy="347472"/>
          </a:xfrm>
          <a:prstGeom prst="roundRect">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4142232"/>
            <a:ext cx="1298448" cy="347472"/>
          </a:xfrm>
          <a:prstGeom prst="rect">
            <a:avLst/>
          </a:prstGeom>
          <a:noFill/>
        </p:spPr>
        <p:txBody>
          <a:bodyPr wrap="square" lIns="0" rIns="0" tIns="0" bIns="0" anchor="ctr">
            <a:spAutoFit/>
          </a:bodyPr>
          <a:lstStyle/>
          <a:p>
            <a:pPr algn="ctr"/>
            <a:r>
              <a:rPr sz="850" b="1">
                <a:solidFill>
                  <a:srgbClr val="FFFFFF"/>
                </a:solidFill>
                <a:latin typeface="Aptos"/>
              </a:rPr>
              <a:t>JE DÉCOUVRE</a:t>
            </a:r>
          </a:p>
        </p:txBody>
      </p:sp>
      <p:sp>
        <p:nvSpPr>
          <p:cNvPr id="13" name="TextBox 12"/>
          <p:cNvSpPr txBox="1"/>
          <p:nvPr/>
        </p:nvSpPr>
        <p:spPr>
          <a:xfrm>
            <a:off x="932688" y="4599432"/>
            <a:ext cx="2468880" cy="402336"/>
          </a:xfrm>
          <a:prstGeom prst="rect">
            <a:avLst/>
          </a:prstGeom>
          <a:noFill/>
        </p:spPr>
        <p:txBody>
          <a:bodyPr wrap="square" lIns="0" rIns="0" tIns="0" bIns="0" anchor="t">
            <a:spAutoFit/>
          </a:bodyPr>
          <a:lstStyle/>
          <a:p>
            <a:pPr algn="l"/>
            <a:r>
              <a:rPr sz="1400" b="1">
                <a:solidFill>
                  <a:srgbClr val="2F3B24"/>
                </a:solidFill>
                <a:latin typeface="Aptos"/>
              </a:rPr>
              <a:t>Ressource → suivi → rendez-vous</a:t>
            </a:r>
          </a:p>
        </p:txBody>
      </p:sp>
      <p:cxnSp>
        <p:nvCxnSpPr>
          <p:cNvPr id="14" name="Connector 13"/>
          <p:cNvCxnSpPr/>
          <p:nvPr/>
        </p:nvCxnSpPr>
        <p:spPr>
          <a:xfrm>
            <a:off x="3767328" y="2304288"/>
            <a:ext cx="932688" cy="786384"/>
          </a:xfrm>
          <a:prstGeom prst="line">
            <a:avLst/>
          </a:prstGeom>
          <a:ln w="38100">
            <a:solidFill>
              <a:srgbClr val="647A0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767328" y="3767328"/>
            <a:ext cx="932688" cy="786384"/>
          </a:xfrm>
          <a:prstGeom prst="line">
            <a:avLst/>
          </a:prstGeom>
          <a:ln w="38100">
            <a:solidFill>
              <a:srgbClr val="854F3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572000" y="2322576"/>
            <a:ext cx="2176272" cy="2176272"/>
          </a:xfrm>
          <a:prstGeom prst="ellipse">
            <a:avLst/>
          </a:prstGeom>
          <a:solidFill>
            <a:srgbClr val="2F3B24"/>
          </a:solidFill>
          <a:ln w="19050">
            <a:solidFill>
              <a:srgbClr val="AAB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olithea-mark-cropped.png"/>
          <p:cNvPicPr>
            <a:picLocks noChangeAspect="1"/>
          </p:cNvPicPr>
          <p:nvPr/>
        </p:nvPicPr>
        <p:blipFill>
          <a:blip r:embed="rId2"/>
          <a:stretch>
            <a:fillRect/>
          </a:stretch>
        </p:blipFill>
        <p:spPr>
          <a:xfrm>
            <a:off x="5094192" y="2660904"/>
            <a:ext cx="1122742" cy="1124712"/>
          </a:xfrm>
          <a:prstGeom prst="rect">
            <a:avLst/>
          </a:prstGeom>
        </p:spPr>
      </p:pic>
      <p:sp>
        <p:nvSpPr>
          <p:cNvPr id="18" name="TextBox 17"/>
          <p:cNvSpPr txBox="1"/>
          <p:nvPr/>
        </p:nvSpPr>
        <p:spPr>
          <a:xfrm>
            <a:off x="4754880" y="3840480"/>
            <a:ext cx="1810512" cy="256032"/>
          </a:xfrm>
          <a:prstGeom prst="rect">
            <a:avLst/>
          </a:prstGeom>
          <a:noFill/>
        </p:spPr>
        <p:txBody>
          <a:bodyPr wrap="square" lIns="0" rIns="0" tIns="0" bIns="0" anchor="t">
            <a:spAutoFit/>
          </a:bodyPr>
          <a:lstStyle/>
          <a:p>
            <a:pPr algn="ctr"/>
            <a:r>
              <a:rPr sz="1050" b="1">
                <a:solidFill>
                  <a:srgbClr val="EEF3DD"/>
                </a:solidFill>
                <a:latin typeface="Aptos"/>
              </a:rPr>
              <a:t>OLITHEA</a:t>
            </a:r>
          </a:p>
        </p:txBody>
      </p:sp>
      <p:cxnSp>
        <p:nvCxnSpPr>
          <p:cNvPr id="19" name="Connector 18"/>
          <p:cNvCxnSpPr/>
          <p:nvPr/>
        </p:nvCxnSpPr>
        <p:spPr>
          <a:xfrm>
            <a:off x="6766560" y="3410712"/>
            <a:ext cx="694944" cy="0"/>
          </a:xfrm>
          <a:prstGeom prst="line">
            <a:avLst/>
          </a:prstGeom>
          <a:ln w="38100">
            <a:solidFill>
              <a:srgbClr val="91A080"/>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205472" y="3182112"/>
            <a:ext cx="274320" cy="457200"/>
          </a:xfrm>
          <a:prstGeom prst="chevron">
            <a:avLst/>
          </a:prstGeom>
          <a:solidFill>
            <a:srgbClr val="91A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680960" y="1737360"/>
            <a:ext cx="1508760" cy="896112"/>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1737360"/>
            <a:ext cx="1508760" cy="896112"/>
          </a:xfrm>
          <a:prstGeom prst="rect">
            <a:avLst/>
          </a:prstGeom>
          <a:noFill/>
        </p:spPr>
        <p:txBody>
          <a:bodyPr wrap="square" lIns="0" rIns="0" tIns="0" bIns="0" anchor="ctr">
            <a:spAutoFit/>
          </a:bodyPr>
          <a:lstStyle/>
          <a:p>
            <a:pPr algn="ctr"/>
            <a:r>
              <a:rPr sz="1250" b="1">
                <a:solidFill>
                  <a:srgbClr val="FFFFFF"/>
                </a:solidFill>
                <a:latin typeface="Aptos"/>
              </a:rPr>
              <a:t>Agenda</a:t>
            </a:r>
          </a:p>
        </p:txBody>
      </p:sp>
      <p:sp>
        <p:nvSpPr>
          <p:cNvPr id="23" name="Rounded Rectangle 22"/>
          <p:cNvSpPr/>
          <p:nvPr/>
        </p:nvSpPr>
        <p:spPr>
          <a:xfrm>
            <a:off x="9445752" y="1737360"/>
            <a:ext cx="1508760" cy="896112"/>
          </a:xfrm>
          <a:prstGeom prst="roundRect">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45752" y="1737360"/>
            <a:ext cx="1508760" cy="896112"/>
          </a:xfrm>
          <a:prstGeom prst="rect">
            <a:avLst/>
          </a:prstGeom>
          <a:noFill/>
        </p:spPr>
        <p:txBody>
          <a:bodyPr wrap="square" lIns="0" rIns="0" tIns="0" bIns="0" anchor="ctr">
            <a:spAutoFit/>
          </a:bodyPr>
          <a:lstStyle/>
          <a:p>
            <a:pPr algn="ctr"/>
            <a:r>
              <a:rPr sz="1250" b="1">
                <a:solidFill>
                  <a:srgbClr val="FFFFFF"/>
                </a:solidFill>
                <a:latin typeface="Aptos"/>
              </a:rPr>
              <a:t>Contacts</a:t>
            </a:r>
          </a:p>
        </p:txBody>
      </p:sp>
      <p:sp>
        <p:nvSpPr>
          <p:cNvPr id="25" name="Rounded Rectangle 24"/>
          <p:cNvSpPr/>
          <p:nvPr/>
        </p:nvSpPr>
        <p:spPr>
          <a:xfrm>
            <a:off x="7680960" y="2999232"/>
            <a:ext cx="1508760" cy="896112"/>
          </a:xfrm>
          <a:prstGeom prst="roundRect">
            <a:avLst/>
          </a:prstGeom>
          <a:solidFill>
            <a:srgbClr val="2F3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0" y="2999232"/>
            <a:ext cx="1508760" cy="896112"/>
          </a:xfrm>
          <a:prstGeom prst="rect">
            <a:avLst/>
          </a:prstGeom>
          <a:noFill/>
        </p:spPr>
        <p:txBody>
          <a:bodyPr wrap="square" lIns="0" rIns="0" tIns="0" bIns="0" anchor="ctr">
            <a:spAutoFit/>
          </a:bodyPr>
          <a:lstStyle/>
          <a:p>
            <a:pPr algn="ctr"/>
            <a:r>
              <a:rPr sz="1250" b="1">
                <a:solidFill>
                  <a:srgbClr val="FFFFFF"/>
                </a:solidFill>
                <a:latin typeface="Aptos"/>
              </a:rPr>
              <a:t>Dossiers</a:t>
            </a:r>
          </a:p>
        </p:txBody>
      </p:sp>
      <p:sp>
        <p:nvSpPr>
          <p:cNvPr id="27" name="Rounded Rectangle 26"/>
          <p:cNvSpPr/>
          <p:nvPr/>
        </p:nvSpPr>
        <p:spPr>
          <a:xfrm>
            <a:off x="9445752" y="2999232"/>
            <a:ext cx="1508760" cy="896112"/>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45752" y="2999232"/>
            <a:ext cx="1508760" cy="896112"/>
          </a:xfrm>
          <a:prstGeom prst="rect">
            <a:avLst/>
          </a:prstGeom>
          <a:noFill/>
        </p:spPr>
        <p:txBody>
          <a:bodyPr wrap="square" lIns="0" rIns="0" tIns="0" bIns="0" anchor="ctr">
            <a:spAutoFit/>
          </a:bodyPr>
          <a:lstStyle/>
          <a:p>
            <a:pPr algn="ctr"/>
            <a:r>
              <a:rPr sz="1250" b="1">
                <a:solidFill>
                  <a:srgbClr val="FFFFFF"/>
                </a:solidFill>
                <a:latin typeface="Aptos"/>
              </a:rPr>
              <a:t>Paiements</a:t>
            </a:r>
          </a:p>
        </p:txBody>
      </p:sp>
      <p:sp>
        <p:nvSpPr>
          <p:cNvPr id="29" name="Rounded Rectangle 28"/>
          <p:cNvSpPr/>
          <p:nvPr/>
        </p:nvSpPr>
        <p:spPr>
          <a:xfrm>
            <a:off x="8567928" y="4261104"/>
            <a:ext cx="1508760" cy="896112"/>
          </a:xfrm>
          <a:prstGeom prst="roundRect">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67928" y="4261104"/>
            <a:ext cx="1508760" cy="896112"/>
          </a:xfrm>
          <a:prstGeom prst="rect">
            <a:avLst/>
          </a:prstGeom>
          <a:noFill/>
        </p:spPr>
        <p:txBody>
          <a:bodyPr wrap="square" lIns="0" rIns="0" tIns="0" bIns="0" anchor="ctr">
            <a:spAutoFit/>
          </a:bodyPr>
          <a:lstStyle/>
          <a:p>
            <a:pPr algn="ctr"/>
            <a:r>
              <a:rPr sz="1250" b="1">
                <a:solidFill>
                  <a:srgbClr val="FFFFFF"/>
                </a:solidFill>
                <a:latin typeface="Aptos"/>
              </a:rPr>
              <a:t>Factures</a:t>
            </a:r>
          </a:p>
        </p:txBody>
      </p:sp>
      <p:sp>
        <p:nvSpPr>
          <p:cNvPr id="31" name="TextBox 30"/>
          <p:cNvSpPr txBox="1"/>
          <p:nvPr/>
        </p:nvSpPr>
        <p:spPr>
          <a:xfrm>
            <a:off x="987552" y="5907024"/>
            <a:ext cx="10222992" cy="347472"/>
          </a:xfrm>
          <a:prstGeom prst="rect">
            <a:avLst/>
          </a:prstGeom>
          <a:noFill/>
        </p:spPr>
        <p:txBody>
          <a:bodyPr wrap="square" lIns="0" rIns="0" tIns="0" bIns="0" anchor="t">
            <a:spAutoFit/>
          </a:bodyPr>
          <a:lstStyle/>
          <a:p>
            <a:pPr algn="ctr"/>
            <a:r>
              <a:rPr sz="1600" b="1">
                <a:solidFill>
                  <a:srgbClr val="2F3B24"/>
                </a:solidFill>
                <a:latin typeface="Aptos"/>
              </a:rPr>
              <a:t>Le marketing et le quotidien métier ne sont plus séparés.</a:t>
            </a:r>
          </a:p>
        </p:txBody>
      </p:sp>
      <p:sp>
        <p:nvSpPr>
          <p:cNvPr id="32" name="TextBox 31"/>
          <p:cNvSpPr txBox="1"/>
          <p:nvPr/>
        </p:nvSpPr>
        <p:spPr>
          <a:xfrm>
            <a:off x="658368" y="6537960"/>
            <a:ext cx="4297680" cy="164592"/>
          </a:xfrm>
          <a:prstGeom prst="rect">
            <a:avLst/>
          </a:prstGeom>
          <a:noFill/>
        </p:spPr>
        <p:txBody>
          <a:bodyPr wrap="square" lIns="0" rIns="0" tIns="0" bIns="0" anchor="t">
            <a:spAutoFit/>
          </a:bodyPr>
          <a:lstStyle/>
          <a:p>
            <a:pPr algn="l"/>
            <a:r>
              <a:rPr sz="850" b="1">
                <a:solidFill>
                  <a:srgbClr val="85907F"/>
                </a:solidFill>
                <a:latin typeface="Aptos"/>
              </a:rPr>
              <a:t>OLITHEA  •  OFFRE &amp; PROSPECTION</a:t>
            </a:r>
          </a:p>
        </p:txBody>
      </p:sp>
      <p:sp>
        <p:nvSpPr>
          <p:cNvPr id="33" name="TextBox 32"/>
          <p:cNvSpPr txBox="1"/>
          <p:nvPr/>
        </p:nvSpPr>
        <p:spPr>
          <a:xfrm>
            <a:off x="11064240" y="6510528"/>
            <a:ext cx="457200" cy="201168"/>
          </a:xfrm>
          <a:prstGeom prst="rect">
            <a:avLst/>
          </a:prstGeom>
          <a:noFill/>
        </p:spPr>
        <p:txBody>
          <a:bodyPr wrap="square" lIns="0" rIns="0" tIns="0" bIns="0" anchor="t">
            <a:spAutoFit/>
          </a:bodyPr>
          <a:lstStyle/>
          <a:p>
            <a:pPr algn="r"/>
            <a:r>
              <a:rPr sz="900" b="1">
                <a:solidFill>
                  <a:srgbClr val="85907F"/>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F3B24"/>
        </a:solidFill>
        <a:effectLst/>
      </p:bgPr>
    </p:bg>
    <p:spTree>
      <p:nvGrpSpPr>
        <p:cNvPr id="1" name=""/>
        <p:cNvGrpSpPr/>
        <p:nvPr/>
      </p:nvGrpSpPr>
      <p:grpSpPr/>
      <p:sp>
        <p:nvSpPr>
          <p:cNvPr id="2" name="TextBox 1"/>
          <p:cNvSpPr txBox="1"/>
          <p:nvPr/>
        </p:nvSpPr>
        <p:spPr>
          <a:xfrm>
            <a:off x="658368" y="420624"/>
            <a:ext cx="5486400" cy="274320"/>
          </a:xfrm>
          <a:prstGeom prst="rect">
            <a:avLst/>
          </a:prstGeom>
          <a:noFill/>
        </p:spPr>
        <p:txBody>
          <a:bodyPr wrap="square" lIns="0" rIns="0" tIns="0" bIns="0" anchor="t">
            <a:spAutoFit/>
          </a:bodyPr>
          <a:lstStyle/>
          <a:p>
            <a:pPr algn="l"/>
            <a:r>
              <a:rPr sz="1050" b="1">
                <a:solidFill>
                  <a:srgbClr val="EEF3DD"/>
                </a:solidFill>
                <a:latin typeface="Aptos"/>
              </a:rPr>
              <a:t>DÉMONSTRATION</a:t>
            </a:r>
          </a:p>
        </p:txBody>
      </p:sp>
      <p:sp>
        <p:nvSpPr>
          <p:cNvPr id="3" name="TextBox 2"/>
          <p:cNvSpPr txBox="1"/>
          <p:nvPr/>
        </p:nvSpPr>
        <p:spPr>
          <a:xfrm>
            <a:off x="658368" y="713232"/>
            <a:ext cx="10789920" cy="731520"/>
          </a:xfrm>
          <a:prstGeom prst="rect">
            <a:avLst/>
          </a:prstGeom>
          <a:noFill/>
        </p:spPr>
        <p:txBody>
          <a:bodyPr wrap="square" lIns="0" rIns="0" tIns="0" bIns="0" anchor="t">
            <a:spAutoFit/>
          </a:bodyPr>
          <a:lstStyle/>
          <a:p>
            <a:pPr algn="l"/>
            <a:r>
              <a:rPr sz="2900" b="1">
                <a:solidFill>
                  <a:srgbClr val="FFFFFF"/>
                </a:solidFill>
                <a:latin typeface="Aptos Display"/>
              </a:rPr>
              <a:t>Deux parcours, dans le même produit.</a:t>
            </a:r>
          </a:p>
        </p:txBody>
      </p:sp>
      <p:sp>
        <p:nvSpPr>
          <p:cNvPr id="4" name="Rounded Rectangle 3"/>
          <p:cNvSpPr/>
          <p:nvPr/>
        </p:nvSpPr>
        <p:spPr>
          <a:xfrm>
            <a:off x="10222992" y="457200"/>
            <a:ext cx="1097280" cy="365760"/>
          </a:xfrm>
          <a:prstGeom prst="roundRect">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22992" y="457200"/>
            <a:ext cx="1097280" cy="365760"/>
          </a:xfrm>
          <a:prstGeom prst="rect">
            <a:avLst/>
          </a:prstGeom>
          <a:noFill/>
        </p:spPr>
        <p:txBody>
          <a:bodyPr wrap="square" lIns="0" rIns="0" tIns="0" bIns="0" anchor="ctr">
            <a:spAutoFit/>
          </a:bodyPr>
          <a:lstStyle/>
          <a:p>
            <a:pPr algn="ctr"/>
            <a:r>
              <a:rPr sz="900" b="1">
                <a:solidFill>
                  <a:srgbClr val="FFFFFF"/>
                </a:solidFill>
                <a:latin typeface="Aptos"/>
              </a:rPr>
              <a:t>DÉMO LIVE</a:t>
            </a:r>
          </a:p>
        </p:txBody>
      </p:sp>
      <p:sp>
        <p:nvSpPr>
          <p:cNvPr id="6" name="Rounded Rectangle 5"/>
          <p:cNvSpPr/>
          <p:nvPr/>
        </p:nvSpPr>
        <p:spPr>
          <a:xfrm>
            <a:off x="722376" y="1499616"/>
            <a:ext cx="6912864" cy="4489704"/>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67512" y="1444752"/>
            <a:ext cx="6912864" cy="4489704"/>
          </a:xfrm>
          <a:prstGeom prst="roundRect">
            <a:avLst/>
          </a:prstGeom>
          <a:solidFill>
            <a:srgbClr val="FFFFFF"/>
          </a:solidFill>
          <a:ln w="12700">
            <a:solidFill>
              <a:srgbClr val="D8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7512" y="1444752"/>
            <a:ext cx="6912864" cy="310896"/>
          </a:xfrm>
          <a:prstGeom prst="roundRect">
            <a:avLst/>
          </a:prstGeom>
          <a:solidFill>
            <a:srgbClr val="E9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13816" y="1540764"/>
            <a:ext cx="82296" cy="82296"/>
          </a:xfrm>
          <a:prstGeom prst="ellipse">
            <a:avLst/>
          </a:prstGeom>
          <a:solidFill>
            <a:srgbClr val="C56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87552" y="1540764"/>
            <a:ext cx="82296" cy="82296"/>
          </a:xfrm>
          <a:prstGeom prst="ellipse">
            <a:avLst/>
          </a:prstGeom>
          <a:solidFill>
            <a:srgbClr val="D8A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1288" y="1540764"/>
            <a:ext cx="82296" cy="82296"/>
          </a:xfrm>
          <a:prstGeom prst="ellipse">
            <a:avLst/>
          </a:prstGeom>
          <a:solidFill>
            <a:srgbClr val="7C9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arcours-offre-creation.png"/>
          <p:cNvPicPr>
            <a:picLocks noChangeAspect="1"/>
          </p:cNvPicPr>
          <p:nvPr/>
        </p:nvPicPr>
        <p:blipFill>
          <a:blip r:embed="rId2"/>
          <a:stretch>
            <a:fillRect/>
          </a:stretch>
        </p:blipFill>
        <p:spPr>
          <a:xfrm>
            <a:off x="913922" y="1837944"/>
            <a:ext cx="6420042" cy="4014216"/>
          </a:xfrm>
          <a:prstGeom prst="rect">
            <a:avLst/>
          </a:prstGeom>
        </p:spPr>
      </p:pic>
      <p:sp>
        <p:nvSpPr>
          <p:cNvPr id="13" name="Rounded Rectangle 12"/>
          <p:cNvSpPr/>
          <p:nvPr/>
        </p:nvSpPr>
        <p:spPr>
          <a:xfrm>
            <a:off x="941832" y="1280160"/>
            <a:ext cx="2103120" cy="329184"/>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280160"/>
            <a:ext cx="2103120" cy="329184"/>
          </a:xfrm>
          <a:prstGeom prst="rect">
            <a:avLst/>
          </a:prstGeom>
          <a:noFill/>
        </p:spPr>
        <p:txBody>
          <a:bodyPr wrap="square" lIns="0" rIns="0" tIns="0" bIns="0" anchor="ctr">
            <a:spAutoFit/>
          </a:bodyPr>
          <a:lstStyle/>
          <a:p>
            <a:pPr algn="ctr"/>
            <a:r>
              <a:rPr sz="850" b="1">
                <a:solidFill>
                  <a:srgbClr val="FFFFFF"/>
                </a:solidFill>
                <a:latin typeface="Aptos"/>
              </a:rPr>
              <a:t>CÔTÉ PRATICIEN</a:t>
            </a:r>
          </a:p>
        </p:txBody>
      </p:sp>
      <p:sp>
        <p:nvSpPr>
          <p:cNvPr id="15" name="TextBox 14"/>
          <p:cNvSpPr txBox="1"/>
          <p:nvPr/>
        </p:nvSpPr>
        <p:spPr>
          <a:xfrm>
            <a:off x="960120" y="5989320"/>
            <a:ext cx="2103120" cy="274320"/>
          </a:xfrm>
          <a:prstGeom prst="rect">
            <a:avLst/>
          </a:prstGeom>
          <a:noFill/>
        </p:spPr>
        <p:txBody>
          <a:bodyPr wrap="square" lIns="0" rIns="0" tIns="0" bIns="0" anchor="t">
            <a:spAutoFit/>
          </a:bodyPr>
          <a:lstStyle/>
          <a:p>
            <a:pPr algn="l"/>
            <a:r>
              <a:rPr sz="1350" b="1">
                <a:solidFill>
                  <a:srgbClr val="EEF3DD"/>
                </a:solidFill>
                <a:latin typeface="Aptos"/>
              </a:rPr>
              <a:t>Créer et relier</a:t>
            </a:r>
          </a:p>
        </p:txBody>
      </p:sp>
      <p:sp>
        <p:nvSpPr>
          <p:cNvPr id="16" name="TextBox 15"/>
          <p:cNvSpPr txBox="1"/>
          <p:nvPr/>
        </p:nvSpPr>
        <p:spPr>
          <a:xfrm>
            <a:off x="2926080" y="5998464"/>
            <a:ext cx="4069080" cy="256032"/>
          </a:xfrm>
          <a:prstGeom prst="rect">
            <a:avLst/>
          </a:prstGeom>
          <a:noFill/>
        </p:spPr>
        <p:txBody>
          <a:bodyPr wrap="square" lIns="0" rIns="0" tIns="0" bIns="0" anchor="t">
            <a:spAutoFit/>
          </a:bodyPr>
          <a:lstStyle/>
          <a:p>
            <a:pPr algn="l"/>
            <a:r>
              <a:rPr sz="1150" b="0">
                <a:solidFill>
                  <a:srgbClr val="AFBDA2"/>
                </a:solidFill>
                <a:latin typeface="Aptos"/>
              </a:rPr>
              <a:t>Offre • ressource • rendez-vous</a:t>
            </a:r>
          </a:p>
        </p:txBody>
      </p:sp>
      <p:sp>
        <p:nvSpPr>
          <p:cNvPr id="17" name="Rounded Rectangle 16"/>
          <p:cNvSpPr/>
          <p:nvPr/>
        </p:nvSpPr>
        <p:spPr>
          <a:xfrm>
            <a:off x="7936992" y="1280160"/>
            <a:ext cx="3593592" cy="4800600"/>
          </a:xfrm>
          <a:prstGeom prst="roundRect">
            <a:avLst/>
          </a:prstGeom>
          <a:solidFill>
            <a:srgbClr val="F7F9EC"/>
          </a:solidFill>
          <a:ln w="12700">
            <a:solidFill>
              <a:srgbClr val="667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1572768"/>
            <a:ext cx="1600200" cy="256032"/>
          </a:xfrm>
          <a:prstGeom prst="rect">
            <a:avLst/>
          </a:prstGeom>
          <a:noFill/>
        </p:spPr>
        <p:txBody>
          <a:bodyPr wrap="square" lIns="0" rIns="0" tIns="0" bIns="0" anchor="t">
            <a:spAutoFit/>
          </a:bodyPr>
          <a:lstStyle/>
          <a:p>
            <a:pPr algn="l"/>
            <a:r>
              <a:rPr sz="900" b="1">
                <a:solidFill>
                  <a:srgbClr val="854F38"/>
                </a:solidFill>
                <a:latin typeface="Aptos"/>
              </a:rPr>
              <a:t>CÔTÉ VISITEUR</a:t>
            </a:r>
          </a:p>
        </p:txBody>
      </p:sp>
      <p:sp>
        <p:nvSpPr>
          <p:cNvPr id="19" name="TextBox 18"/>
          <p:cNvSpPr txBox="1"/>
          <p:nvPr/>
        </p:nvSpPr>
        <p:spPr>
          <a:xfrm>
            <a:off x="8211312" y="1901952"/>
            <a:ext cx="1417320" cy="777240"/>
          </a:xfrm>
          <a:prstGeom prst="rect">
            <a:avLst/>
          </a:prstGeom>
          <a:noFill/>
        </p:spPr>
        <p:txBody>
          <a:bodyPr wrap="square" lIns="0" rIns="0" tIns="0" bIns="0" anchor="t">
            <a:spAutoFit/>
          </a:bodyPr>
          <a:lstStyle/>
          <a:p>
            <a:pPr algn="l"/>
            <a:r>
              <a:rPr sz="2000" b="1">
                <a:solidFill>
                  <a:srgbClr val="2F3B24"/>
                </a:solidFill>
                <a:latin typeface="Aptos Display"/>
              </a:rPr>
              <a:t>Comprendre
et agir</a:t>
            </a:r>
          </a:p>
        </p:txBody>
      </p:sp>
      <p:sp>
        <p:nvSpPr>
          <p:cNvPr id="20" name="Rounded Rectangle 19"/>
          <p:cNvSpPr/>
          <p:nvPr/>
        </p:nvSpPr>
        <p:spPr>
          <a:xfrm>
            <a:off x="9720072" y="1554480"/>
            <a:ext cx="1417320" cy="4315968"/>
          </a:xfrm>
          <a:prstGeom prst="roundRect">
            <a:avLst/>
          </a:prstGeom>
          <a:solidFill>
            <a:srgbClr val="111511"/>
          </a:solidFill>
          <a:ln w="127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arcours-offre-capture-mobile.png"/>
          <p:cNvPicPr>
            <a:picLocks noChangeAspect="1"/>
          </p:cNvPicPr>
          <p:nvPr/>
        </p:nvPicPr>
        <p:blipFill>
          <a:blip r:embed="rId3"/>
          <a:stretch>
            <a:fillRect/>
          </a:stretch>
        </p:blipFill>
        <p:spPr>
          <a:xfrm>
            <a:off x="9811512" y="2375976"/>
            <a:ext cx="1234440" cy="2672974"/>
          </a:xfrm>
          <a:prstGeom prst="rect">
            <a:avLst/>
          </a:prstGeom>
        </p:spPr>
      </p:pic>
      <p:sp>
        <p:nvSpPr>
          <p:cNvPr id="22" name="Rounded Rectangle 21"/>
          <p:cNvSpPr/>
          <p:nvPr/>
        </p:nvSpPr>
        <p:spPr>
          <a:xfrm>
            <a:off x="10201960" y="1609344"/>
            <a:ext cx="453542" cy="73152"/>
          </a:xfrm>
          <a:prstGeom prst="roundRect">
            <a:avLst/>
          </a:prstGeom>
          <a:solidFill>
            <a:srgbClr val="11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1312" y="3154680"/>
            <a:ext cx="1371600" cy="1325880"/>
          </a:xfrm>
          <a:prstGeom prst="rect">
            <a:avLst/>
          </a:prstGeom>
          <a:noFill/>
        </p:spPr>
        <p:txBody>
          <a:bodyPr wrap="square" lIns="0" rIns="0" tIns="0" bIns="0" anchor="t">
            <a:spAutoFit/>
          </a:bodyPr>
          <a:lstStyle/>
          <a:p>
            <a:pPr algn="l"/>
            <a:r>
              <a:rPr sz="1180" b="1">
                <a:solidFill>
                  <a:srgbClr val="667064"/>
                </a:solidFill>
                <a:latin typeface="Aptos"/>
              </a:rPr>
              <a:t>Une page claire
Un consentement
Une prochaine étape</a:t>
            </a:r>
          </a:p>
        </p:txBody>
      </p:sp>
      <p:sp>
        <p:nvSpPr>
          <p:cNvPr id="24" name="Rounded Rectangle 23"/>
          <p:cNvSpPr/>
          <p:nvPr/>
        </p:nvSpPr>
        <p:spPr>
          <a:xfrm>
            <a:off x="8211312" y="4983480"/>
            <a:ext cx="1417320" cy="393192"/>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4983480"/>
            <a:ext cx="1417320" cy="393192"/>
          </a:xfrm>
          <a:prstGeom prst="rect">
            <a:avLst/>
          </a:prstGeom>
          <a:noFill/>
        </p:spPr>
        <p:txBody>
          <a:bodyPr wrap="square" lIns="0" rIns="0" tIns="0" bIns="0" anchor="ctr">
            <a:spAutoFit/>
          </a:bodyPr>
          <a:lstStyle/>
          <a:p>
            <a:pPr algn="ctr"/>
            <a:r>
              <a:rPr sz="780" b="1">
                <a:solidFill>
                  <a:srgbClr val="FFFFFF"/>
                </a:solidFill>
                <a:latin typeface="Aptos"/>
              </a:rPr>
              <a:t>PUIS LE MÊME AGENDA</a:t>
            </a:r>
          </a:p>
        </p:txBody>
      </p:sp>
      <p:sp>
        <p:nvSpPr>
          <p:cNvPr id="26" name="TextBox 25"/>
          <p:cNvSpPr txBox="1"/>
          <p:nvPr/>
        </p:nvSpPr>
        <p:spPr>
          <a:xfrm>
            <a:off x="658368" y="6537960"/>
            <a:ext cx="4297680" cy="164592"/>
          </a:xfrm>
          <a:prstGeom prst="rect">
            <a:avLst/>
          </a:prstGeom>
          <a:noFill/>
        </p:spPr>
        <p:txBody>
          <a:bodyPr wrap="square" lIns="0" rIns="0" tIns="0" bIns="0" anchor="t">
            <a:spAutoFit/>
          </a:bodyPr>
          <a:lstStyle/>
          <a:p>
            <a:pPr algn="l"/>
            <a:r>
              <a:rPr sz="850" b="1">
                <a:solidFill>
                  <a:srgbClr val="C7D0BB"/>
                </a:solidFill>
                <a:latin typeface="Aptos"/>
              </a:rPr>
              <a:t>OLITHEA  •  OFFRE &amp; PROSPECTION</a:t>
            </a:r>
          </a:p>
        </p:txBody>
      </p:sp>
      <p:sp>
        <p:nvSpPr>
          <p:cNvPr id="27" name="TextBox 26"/>
          <p:cNvSpPr txBox="1"/>
          <p:nvPr/>
        </p:nvSpPr>
        <p:spPr>
          <a:xfrm>
            <a:off x="11064240" y="6510528"/>
            <a:ext cx="457200" cy="201168"/>
          </a:xfrm>
          <a:prstGeom prst="rect">
            <a:avLst/>
          </a:prstGeom>
          <a:noFill/>
        </p:spPr>
        <p:txBody>
          <a:bodyPr wrap="square" lIns="0" rIns="0" tIns="0" bIns="0" anchor="t">
            <a:spAutoFit/>
          </a:bodyPr>
          <a:lstStyle/>
          <a:p>
            <a:pPr algn="r"/>
            <a:r>
              <a:rPr sz="900" b="1">
                <a:solidFill>
                  <a:srgbClr val="C7D0BB"/>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5486400" cy="274320"/>
          </a:xfrm>
          <a:prstGeom prst="rect">
            <a:avLst/>
          </a:prstGeom>
          <a:noFill/>
        </p:spPr>
        <p:txBody>
          <a:bodyPr wrap="square" lIns="0" rIns="0" tIns="0" bIns="0" anchor="t">
            <a:spAutoFit/>
          </a:bodyPr>
          <a:lstStyle/>
          <a:p>
            <a:pPr algn="l"/>
            <a:r>
              <a:rPr sz="1050" b="1">
                <a:solidFill>
                  <a:srgbClr val="647A0B"/>
                </a:solidFill>
                <a:latin typeface="Aptos"/>
              </a:rPr>
              <a:t>À FAIRE CETTE SEMAINE</a:t>
            </a:r>
          </a:p>
        </p:txBody>
      </p:sp>
      <p:sp>
        <p:nvSpPr>
          <p:cNvPr id="3" name="TextBox 2"/>
          <p:cNvSpPr txBox="1"/>
          <p:nvPr/>
        </p:nvSpPr>
        <p:spPr>
          <a:xfrm>
            <a:off x="658368" y="713232"/>
            <a:ext cx="10789920" cy="731520"/>
          </a:xfrm>
          <a:prstGeom prst="rect">
            <a:avLst/>
          </a:prstGeom>
          <a:noFill/>
        </p:spPr>
        <p:txBody>
          <a:bodyPr wrap="square" lIns="0" rIns="0" tIns="0" bIns="0" anchor="t">
            <a:spAutoFit/>
          </a:bodyPr>
          <a:lstStyle/>
          <a:p>
            <a:pPr algn="l"/>
            <a:r>
              <a:rPr sz="3000" b="1">
                <a:solidFill>
                  <a:srgbClr val="2F3B24"/>
                </a:solidFill>
                <a:latin typeface="Aptos Display"/>
              </a:rPr>
              <a:t>Votre plan dans les 48 heures.</a:t>
            </a:r>
          </a:p>
        </p:txBody>
      </p:sp>
      <p:sp>
        <p:nvSpPr>
          <p:cNvPr id="4" name="Oval 3"/>
          <p:cNvSpPr/>
          <p:nvPr/>
        </p:nvSpPr>
        <p:spPr>
          <a:xfrm>
            <a:off x="749808" y="1572768"/>
            <a:ext cx="640080" cy="640080"/>
          </a:xfrm>
          <a:prstGeom prst="ellipse">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572768"/>
            <a:ext cx="640080" cy="640080"/>
          </a:xfrm>
          <a:prstGeom prst="rect">
            <a:avLst/>
          </a:prstGeom>
          <a:noFill/>
        </p:spPr>
        <p:txBody>
          <a:bodyPr wrap="square" lIns="0" rIns="0" tIns="0" bIns="0" anchor="ctr">
            <a:spAutoFit/>
          </a:bodyPr>
          <a:lstStyle/>
          <a:p>
            <a:pPr algn="ctr"/>
            <a:r>
              <a:rPr sz="1000" b="1">
                <a:solidFill>
                  <a:srgbClr val="FFFFFF"/>
                </a:solidFill>
                <a:latin typeface="Aptos"/>
              </a:rPr>
              <a:t>01</a:t>
            </a:r>
          </a:p>
        </p:txBody>
      </p:sp>
      <p:sp>
        <p:nvSpPr>
          <p:cNvPr id="6" name="TextBox 5"/>
          <p:cNvSpPr txBox="1"/>
          <p:nvPr/>
        </p:nvSpPr>
        <p:spPr>
          <a:xfrm>
            <a:off x="1627632" y="1645920"/>
            <a:ext cx="3977639" cy="457200"/>
          </a:xfrm>
          <a:prstGeom prst="rect">
            <a:avLst/>
          </a:prstGeom>
          <a:noFill/>
        </p:spPr>
        <p:txBody>
          <a:bodyPr wrap="square" lIns="0" rIns="0" tIns="0" bIns="0" anchor="t">
            <a:spAutoFit/>
          </a:bodyPr>
          <a:lstStyle/>
          <a:p>
            <a:pPr algn="l"/>
            <a:r>
              <a:rPr sz="1800" b="1">
                <a:solidFill>
                  <a:srgbClr val="2F3B24"/>
                </a:solidFill>
                <a:latin typeface="Aptos Display"/>
              </a:rPr>
              <a:t>Choisissez une seule offre</a:t>
            </a:r>
          </a:p>
        </p:txBody>
      </p:sp>
      <p:sp>
        <p:nvSpPr>
          <p:cNvPr id="7" name="Oval 6"/>
          <p:cNvSpPr/>
          <p:nvPr/>
        </p:nvSpPr>
        <p:spPr>
          <a:xfrm>
            <a:off x="749808" y="2551176"/>
            <a:ext cx="640080" cy="640080"/>
          </a:xfrm>
          <a:prstGeom prst="ellipse">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51176"/>
            <a:ext cx="640080" cy="640080"/>
          </a:xfrm>
          <a:prstGeom prst="rect">
            <a:avLst/>
          </a:prstGeom>
          <a:noFill/>
        </p:spPr>
        <p:txBody>
          <a:bodyPr wrap="square" lIns="0" rIns="0" tIns="0" bIns="0" anchor="ctr">
            <a:spAutoFit/>
          </a:bodyPr>
          <a:lstStyle/>
          <a:p>
            <a:pPr algn="ctr"/>
            <a:r>
              <a:rPr sz="1000" b="1">
                <a:solidFill>
                  <a:srgbClr val="FFFFFF"/>
                </a:solidFill>
                <a:latin typeface="Aptos"/>
              </a:rPr>
              <a:t>02</a:t>
            </a:r>
          </a:p>
        </p:txBody>
      </p:sp>
      <p:sp>
        <p:nvSpPr>
          <p:cNvPr id="9" name="TextBox 8"/>
          <p:cNvSpPr txBox="1"/>
          <p:nvPr/>
        </p:nvSpPr>
        <p:spPr>
          <a:xfrm>
            <a:off x="1627632" y="2624328"/>
            <a:ext cx="3977639" cy="457200"/>
          </a:xfrm>
          <a:prstGeom prst="rect">
            <a:avLst/>
          </a:prstGeom>
          <a:noFill/>
        </p:spPr>
        <p:txBody>
          <a:bodyPr wrap="square" lIns="0" rIns="0" tIns="0" bIns="0" anchor="t">
            <a:spAutoFit/>
          </a:bodyPr>
          <a:lstStyle/>
          <a:p>
            <a:pPr algn="l"/>
            <a:r>
              <a:rPr sz="1800" b="1">
                <a:solidFill>
                  <a:srgbClr val="2F3B24"/>
                </a:solidFill>
                <a:latin typeface="Aptos Display"/>
              </a:rPr>
              <a:t>Écrivez une phrase claire</a:t>
            </a:r>
          </a:p>
        </p:txBody>
      </p:sp>
      <p:sp>
        <p:nvSpPr>
          <p:cNvPr id="10" name="Oval 9"/>
          <p:cNvSpPr/>
          <p:nvPr/>
        </p:nvSpPr>
        <p:spPr>
          <a:xfrm>
            <a:off x="749808" y="3529584"/>
            <a:ext cx="640080" cy="640080"/>
          </a:xfrm>
          <a:prstGeom prst="ellipse">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3529584"/>
            <a:ext cx="640080" cy="640080"/>
          </a:xfrm>
          <a:prstGeom prst="rect">
            <a:avLst/>
          </a:prstGeom>
          <a:noFill/>
        </p:spPr>
        <p:txBody>
          <a:bodyPr wrap="square" lIns="0" rIns="0" tIns="0" bIns="0" anchor="ctr">
            <a:spAutoFit/>
          </a:bodyPr>
          <a:lstStyle/>
          <a:p>
            <a:pPr algn="ctr"/>
            <a:r>
              <a:rPr sz="1000" b="1">
                <a:solidFill>
                  <a:srgbClr val="FFFFFF"/>
                </a:solidFill>
                <a:latin typeface="Aptos"/>
              </a:rPr>
              <a:t>03</a:t>
            </a:r>
          </a:p>
        </p:txBody>
      </p:sp>
      <p:sp>
        <p:nvSpPr>
          <p:cNvPr id="12" name="TextBox 11"/>
          <p:cNvSpPr txBox="1"/>
          <p:nvPr/>
        </p:nvSpPr>
        <p:spPr>
          <a:xfrm>
            <a:off x="1627632" y="3602736"/>
            <a:ext cx="3977639" cy="457200"/>
          </a:xfrm>
          <a:prstGeom prst="rect">
            <a:avLst/>
          </a:prstGeom>
          <a:noFill/>
        </p:spPr>
        <p:txBody>
          <a:bodyPr wrap="square" lIns="0" rIns="0" tIns="0" bIns="0" anchor="t">
            <a:spAutoFit/>
          </a:bodyPr>
          <a:lstStyle/>
          <a:p>
            <a:pPr algn="l"/>
            <a:r>
              <a:rPr sz="1800" b="1">
                <a:solidFill>
                  <a:srgbClr val="2F3B24"/>
                </a:solidFill>
                <a:latin typeface="Aptos Display"/>
              </a:rPr>
              <a:t>Créez deux prochaines étapes</a:t>
            </a:r>
          </a:p>
        </p:txBody>
      </p:sp>
      <p:sp>
        <p:nvSpPr>
          <p:cNvPr id="13" name="Oval 12"/>
          <p:cNvSpPr/>
          <p:nvPr/>
        </p:nvSpPr>
        <p:spPr>
          <a:xfrm>
            <a:off x="749808" y="4507992"/>
            <a:ext cx="640080" cy="640080"/>
          </a:xfrm>
          <a:prstGeom prst="ellipse">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507992"/>
            <a:ext cx="640080" cy="640080"/>
          </a:xfrm>
          <a:prstGeom prst="rect">
            <a:avLst/>
          </a:prstGeom>
          <a:noFill/>
        </p:spPr>
        <p:txBody>
          <a:bodyPr wrap="square" lIns="0" rIns="0" tIns="0" bIns="0" anchor="ctr">
            <a:spAutoFit/>
          </a:bodyPr>
          <a:lstStyle/>
          <a:p>
            <a:pPr algn="ctr"/>
            <a:r>
              <a:rPr sz="1000" b="1">
                <a:solidFill>
                  <a:srgbClr val="FFFFFF"/>
                </a:solidFill>
                <a:latin typeface="Aptos"/>
              </a:rPr>
              <a:t>04</a:t>
            </a:r>
          </a:p>
        </p:txBody>
      </p:sp>
      <p:sp>
        <p:nvSpPr>
          <p:cNvPr id="15" name="TextBox 14"/>
          <p:cNvSpPr txBox="1"/>
          <p:nvPr/>
        </p:nvSpPr>
        <p:spPr>
          <a:xfrm>
            <a:off x="1627632" y="4581144"/>
            <a:ext cx="3977639" cy="457200"/>
          </a:xfrm>
          <a:prstGeom prst="rect">
            <a:avLst/>
          </a:prstGeom>
          <a:noFill/>
        </p:spPr>
        <p:txBody>
          <a:bodyPr wrap="square" lIns="0" rIns="0" tIns="0" bIns="0" anchor="t">
            <a:spAutoFit/>
          </a:bodyPr>
          <a:lstStyle/>
          <a:p>
            <a:pPr algn="l"/>
            <a:r>
              <a:rPr sz="1800" b="1">
                <a:solidFill>
                  <a:srgbClr val="2F3B24"/>
                </a:solidFill>
                <a:latin typeface="Aptos Display"/>
              </a:rPr>
              <a:t>Vérifiez votre lien Instagram</a:t>
            </a:r>
          </a:p>
        </p:txBody>
      </p:sp>
      <p:sp>
        <p:nvSpPr>
          <p:cNvPr id="16" name="Rounded Rectangle 15"/>
          <p:cNvSpPr/>
          <p:nvPr/>
        </p:nvSpPr>
        <p:spPr>
          <a:xfrm>
            <a:off x="6044183" y="1444752"/>
            <a:ext cx="5303520" cy="4425696"/>
          </a:xfrm>
          <a:prstGeom prst="roundRect">
            <a:avLst/>
          </a:prstGeom>
          <a:solidFill>
            <a:srgbClr val="D8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989320" y="1389888"/>
            <a:ext cx="5303520" cy="4425696"/>
          </a:xfrm>
          <a:prstGeom prst="roundRect">
            <a:avLst/>
          </a:prstGeom>
          <a:solidFill>
            <a:srgbClr val="F7F9EC"/>
          </a:solidFill>
          <a:ln w="12700">
            <a:solidFill>
              <a:srgbClr val="D8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737360"/>
            <a:ext cx="2560320" cy="274320"/>
          </a:xfrm>
          <a:prstGeom prst="rect">
            <a:avLst/>
          </a:prstGeom>
          <a:noFill/>
        </p:spPr>
        <p:txBody>
          <a:bodyPr wrap="square" lIns="0" rIns="0" tIns="0" bIns="0" anchor="t">
            <a:spAutoFit/>
          </a:bodyPr>
          <a:lstStyle/>
          <a:p>
            <a:pPr algn="l"/>
            <a:r>
              <a:rPr sz="1000" b="1">
                <a:solidFill>
                  <a:srgbClr val="647A0B"/>
                </a:solidFill>
                <a:latin typeface="Aptos"/>
              </a:rPr>
              <a:t>VOTRE LIEN INSTAGRAM</a:t>
            </a:r>
          </a:p>
        </p:txBody>
      </p:sp>
      <p:sp>
        <p:nvSpPr>
          <p:cNvPr id="19" name="TextBox 18"/>
          <p:cNvSpPr txBox="1"/>
          <p:nvPr/>
        </p:nvSpPr>
        <p:spPr>
          <a:xfrm>
            <a:off x="6355080" y="2139696"/>
            <a:ext cx="3840480" cy="438912"/>
          </a:xfrm>
          <a:prstGeom prst="rect">
            <a:avLst/>
          </a:prstGeom>
          <a:noFill/>
        </p:spPr>
        <p:txBody>
          <a:bodyPr wrap="square" lIns="0" rIns="0" tIns="0" bIns="0" anchor="t">
            <a:spAutoFit/>
          </a:bodyPr>
          <a:lstStyle/>
          <a:p>
            <a:pPr algn="l"/>
            <a:r>
              <a:rPr sz="2300" b="1">
                <a:solidFill>
                  <a:srgbClr val="2F3B24"/>
                </a:solidFill>
                <a:latin typeface="Aptos Display"/>
              </a:rPr>
              <a:t>Deux choix suffisent.</a:t>
            </a:r>
          </a:p>
        </p:txBody>
      </p:sp>
      <p:sp>
        <p:nvSpPr>
          <p:cNvPr id="20" name="Rounded Rectangle 19"/>
          <p:cNvSpPr/>
          <p:nvPr/>
        </p:nvSpPr>
        <p:spPr>
          <a:xfrm>
            <a:off x="6355080" y="2852928"/>
            <a:ext cx="4553712" cy="969264"/>
          </a:xfrm>
          <a:prstGeom prst="roundRect">
            <a:avLst/>
          </a:prstGeom>
          <a:solidFill>
            <a:srgbClr val="647A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400" y="3054096"/>
            <a:ext cx="1298448" cy="201168"/>
          </a:xfrm>
          <a:prstGeom prst="rect">
            <a:avLst/>
          </a:prstGeom>
          <a:noFill/>
        </p:spPr>
        <p:txBody>
          <a:bodyPr wrap="square" lIns="0" rIns="0" tIns="0" bIns="0" anchor="t">
            <a:spAutoFit/>
          </a:bodyPr>
          <a:lstStyle/>
          <a:p>
            <a:pPr algn="l"/>
            <a:r>
              <a:rPr sz="900" b="1">
                <a:solidFill>
                  <a:srgbClr val="DCE7C7"/>
                </a:solidFill>
                <a:latin typeface="Aptos"/>
              </a:rPr>
              <a:t>JE SUIS PRÊT</a:t>
            </a:r>
          </a:p>
        </p:txBody>
      </p:sp>
      <p:sp>
        <p:nvSpPr>
          <p:cNvPr id="22" name="TextBox 21"/>
          <p:cNvSpPr txBox="1"/>
          <p:nvPr/>
        </p:nvSpPr>
        <p:spPr>
          <a:xfrm>
            <a:off x="7909560" y="3017520"/>
            <a:ext cx="2560320" cy="292608"/>
          </a:xfrm>
          <a:prstGeom prst="rect">
            <a:avLst/>
          </a:prstGeom>
          <a:noFill/>
        </p:spPr>
        <p:txBody>
          <a:bodyPr wrap="square" lIns="0" rIns="0" tIns="0" bIns="0" anchor="t">
            <a:spAutoFit/>
          </a:bodyPr>
          <a:lstStyle/>
          <a:p>
            <a:pPr algn="r"/>
            <a:r>
              <a:rPr sz="1500" b="1">
                <a:solidFill>
                  <a:srgbClr val="FFFFFF"/>
                </a:solidFill>
                <a:latin typeface="Aptos"/>
              </a:rPr>
              <a:t>Prendre rendez-vous</a:t>
            </a:r>
          </a:p>
        </p:txBody>
      </p:sp>
      <p:sp>
        <p:nvSpPr>
          <p:cNvPr id="23" name="Rounded Rectangle 22"/>
          <p:cNvSpPr/>
          <p:nvPr/>
        </p:nvSpPr>
        <p:spPr>
          <a:xfrm>
            <a:off x="6355080" y="4078224"/>
            <a:ext cx="4553712" cy="969264"/>
          </a:xfrm>
          <a:prstGeom prst="roundRect">
            <a:avLst/>
          </a:prstGeom>
          <a:solidFill>
            <a:srgbClr val="F4ECE7"/>
          </a:solidFill>
          <a:ln w="12700">
            <a:solidFill>
              <a:srgbClr val="DAB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4279392"/>
            <a:ext cx="1371600" cy="201168"/>
          </a:xfrm>
          <a:prstGeom prst="rect">
            <a:avLst/>
          </a:prstGeom>
          <a:noFill/>
        </p:spPr>
        <p:txBody>
          <a:bodyPr wrap="square" lIns="0" rIns="0" tIns="0" bIns="0" anchor="t">
            <a:spAutoFit/>
          </a:bodyPr>
          <a:lstStyle/>
          <a:p>
            <a:pPr algn="l"/>
            <a:r>
              <a:rPr sz="900" b="1">
                <a:solidFill>
                  <a:srgbClr val="854F38"/>
                </a:solidFill>
                <a:latin typeface="Aptos"/>
              </a:rPr>
              <a:t>JE DÉCOUVRE</a:t>
            </a:r>
          </a:p>
        </p:txBody>
      </p:sp>
      <p:sp>
        <p:nvSpPr>
          <p:cNvPr id="25" name="TextBox 24"/>
          <p:cNvSpPr txBox="1"/>
          <p:nvPr/>
        </p:nvSpPr>
        <p:spPr>
          <a:xfrm>
            <a:off x="7891272" y="4242816"/>
            <a:ext cx="2578608" cy="292608"/>
          </a:xfrm>
          <a:prstGeom prst="rect">
            <a:avLst/>
          </a:prstGeom>
          <a:noFill/>
        </p:spPr>
        <p:txBody>
          <a:bodyPr wrap="square" lIns="0" rIns="0" tIns="0" bIns="0" anchor="t">
            <a:spAutoFit/>
          </a:bodyPr>
          <a:lstStyle/>
          <a:p>
            <a:pPr algn="r"/>
            <a:r>
              <a:rPr sz="1500" b="1">
                <a:solidFill>
                  <a:srgbClr val="6B3E2D"/>
                </a:solidFill>
                <a:latin typeface="Aptos"/>
              </a:rPr>
              <a:t>Recevoir une ressource</a:t>
            </a:r>
          </a:p>
        </p:txBody>
      </p:sp>
      <p:sp>
        <p:nvSpPr>
          <p:cNvPr id="26" name="TextBox 25"/>
          <p:cNvSpPr txBox="1"/>
          <p:nvPr/>
        </p:nvSpPr>
        <p:spPr>
          <a:xfrm>
            <a:off x="6565392" y="5330952"/>
            <a:ext cx="4206240" cy="310896"/>
          </a:xfrm>
          <a:prstGeom prst="rect">
            <a:avLst/>
          </a:prstGeom>
          <a:noFill/>
        </p:spPr>
        <p:txBody>
          <a:bodyPr wrap="square" lIns="0" rIns="0" tIns="0" bIns="0" anchor="t">
            <a:spAutoFit/>
          </a:bodyPr>
          <a:lstStyle/>
          <a:p>
            <a:pPr algn="ctr"/>
            <a:r>
              <a:rPr sz="1350" b="1">
                <a:solidFill>
                  <a:srgbClr val="667064"/>
                </a:solidFill>
                <a:latin typeface="Aptos"/>
              </a:rPr>
              <a:t>Une offre. Deux portes. Pas dix liens.</a:t>
            </a:r>
          </a:p>
        </p:txBody>
      </p:sp>
      <p:sp>
        <p:nvSpPr>
          <p:cNvPr id="27" name="TextBox 26"/>
          <p:cNvSpPr txBox="1"/>
          <p:nvPr/>
        </p:nvSpPr>
        <p:spPr>
          <a:xfrm>
            <a:off x="768096" y="5943600"/>
            <a:ext cx="4956048" cy="347472"/>
          </a:xfrm>
          <a:prstGeom prst="rect">
            <a:avLst/>
          </a:prstGeom>
          <a:noFill/>
        </p:spPr>
        <p:txBody>
          <a:bodyPr wrap="square" lIns="0" rIns="0" tIns="0" bIns="0" anchor="t">
            <a:spAutoFit/>
          </a:bodyPr>
          <a:lstStyle/>
          <a:p>
            <a:pPr algn="l"/>
            <a:r>
              <a:rPr sz="1450" b="1">
                <a:solidFill>
                  <a:srgbClr val="854F38"/>
                </a:solidFill>
                <a:latin typeface="Aptos"/>
              </a:rPr>
              <a:t>Commencez petit. Rendez le chemin évident.</a:t>
            </a:r>
          </a:p>
        </p:txBody>
      </p:sp>
      <p:sp>
        <p:nvSpPr>
          <p:cNvPr id="28" name="TextBox 27"/>
          <p:cNvSpPr txBox="1"/>
          <p:nvPr/>
        </p:nvSpPr>
        <p:spPr>
          <a:xfrm>
            <a:off x="658368" y="6537960"/>
            <a:ext cx="4297680" cy="164592"/>
          </a:xfrm>
          <a:prstGeom prst="rect">
            <a:avLst/>
          </a:prstGeom>
          <a:noFill/>
        </p:spPr>
        <p:txBody>
          <a:bodyPr wrap="square" lIns="0" rIns="0" tIns="0" bIns="0" anchor="t">
            <a:spAutoFit/>
          </a:bodyPr>
          <a:lstStyle/>
          <a:p>
            <a:pPr algn="l"/>
            <a:r>
              <a:rPr sz="850" b="1">
                <a:solidFill>
                  <a:srgbClr val="85907F"/>
                </a:solidFill>
                <a:latin typeface="Aptos"/>
              </a:rPr>
              <a:t>OLITHEA  •  OFFRE &amp; PROSPECTION</a:t>
            </a:r>
          </a:p>
        </p:txBody>
      </p:sp>
      <p:sp>
        <p:nvSpPr>
          <p:cNvPr id="29" name="TextBox 28"/>
          <p:cNvSpPr txBox="1"/>
          <p:nvPr/>
        </p:nvSpPr>
        <p:spPr>
          <a:xfrm>
            <a:off x="11064240" y="6510528"/>
            <a:ext cx="457200" cy="201168"/>
          </a:xfrm>
          <a:prstGeom prst="rect">
            <a:avLst/>
          </a:prstGeom>
          <a:noFill/>
        </p:spPr>
        <p:txBody>
          <a:bodyPr wrap="square" lIns="0" rIns="0" tIns="0" bIns="0" anchor="t">
            <a:spAutoFit/>
          </a:bodyPr>
          <a:lstStyle/>
          <a:p>
            <a:pPr algn="r"/>
            <a:r>
              <a:rPr sz="900" b="1">
                <a:solidFill>
                  <a:srgbClr val="85907F"/>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F3B24"/>
        </a:solidFill>
        <a:effectLst/>
      </p:bgPr>
    </p:bg>
    <p:spTree>
      <p:nvGrpSpPr>
        <p:cNvPr id="1" name=""/>
        <p:cNvGrpSpPr/>
        <p:nvPr/>
      </p:nvGrpSpPr>
      <p:grpSpPr/>
      <p:sp>
        <p:nvSpPr>
          <p:cNvPr id="2" name="Rounded Rectangle 1"/>
          <p:cNvSpPr/>
          <p:nvPr/>
        </p:nvSpPr>
        <p:spPr>
          <a:xfrm>
            <a:off x="667512" y="411480"/>
            <a:ext cx="2148839" cy="713232"/>
          </a:xfrm>
          <a:prstGeom prst="roundRect">
            <a:avLst/>
          </a:prstGeom>
          <a:solidFill>
            <a:srgbClr val="F7F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lithea-logo-horizontal-accent-cropped.png"/>
          <p:cNvPicPr>
            <a:picLocks noChangeAspect="1"/>
          </p:cNvPicPr>
          <p:nvPr/>
        </p:nvPicPr>
        <p:blipFill>
          <a:blip r:embed="rId2"/>
          <a:stretch>
            <a:fillRect/>
          </a:stretch>
        </p:blipFill>
        <p:spPr>
          <a:xfrm>
            <a:off x="813442" y="484632"/>
            <a:ext cx="1856978" cy="566928"/>
          </a:xfrm>
          <a:prstGeom prst="rect">
            <a:avLst/>
          </a:prstGeom>
        </p:spPr>
      </p:pic>
      <p:sp>
        <p:nvSpPr>
          <p:cNvPr id="4" name="Rounded Rectangle 3"/>
          <p:cNvSpPr/>
          <p:nvPr/>
        </p:nvSpPr>
        <p:spPr>
          <a:xfrm>
            <a:off x="758952" y="1417320"/>
            <a:ext cx="1325880" cy="365760"/>
          </a:xfrm>
          <a:prstGeom prst="roundRect">
            <a:avLst/>
          </a:prstGeom>
          <a:solidFill>
            <a:srgbClr val="854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8952" y="1417320"/>
            <a:ext cx="1325880" cy="365760"/>
          </a:xfrm>
          <a:prstGeom prst="rect">
            <a:avLst/>
          </a:prstGeom>
          <a:noFill/>
        </p:spPr>
        <p:txBody>
          <a:bodyPr wrap="square" lIns="0" rIns="0" tIns="0" bIns="0" anchor="ctr">
            <a:spAutoFit/>
          </a:bodyPr>
          <a:lstStyle/>
          <a:p>
            <a:pPr algn="ctr"/>
            <a:r>
              <a:rPr sz="850" b="1">
                <a:solidFill>
                  <a:srgbClr val="FFFFFF"/>
                </a:solidFill>
                <a:latin typeface="Aptos"/>
              </a:rPr>
              <a:t>CANEVA GRATUIT</a:t>
            </a:r>
          </a:p>
        </p:txBody>
      </p:sp>
      <p:sp>
        <p:nvSpPr>
          <p:cNvPr id="6" name="TextBox 5"/>
          <p:cNvSpPr txBox="1"/>
          <p:nvPr/>
        </p:nvSpPr>
        <p:spPr>
          <a:xfrm>
            <a:off x="749808" y="1874519"/>
            <a:ext cx="5760720" cy="2011680"/>
          </a:xfrm>
          <a:prstGeom prst="rect">
            <a:avLst/>
          </a:prstGeom>
          <a:noFill/>
        </p:spPr>
        <p:txBody>
          <a:bodyPr wrap="square" lIns="0" rIns="0" tIns="0" bIns="0" anchor="t">
            <a:spAutoFit/>
          </a:bodyPr>
          <a:lstStyle/>
          <a:p>
            <a:pPr algn="l"/>
            <a:r>
              <a:rPr sz="3600" b="1">
                <a:solidFill>
                  <a:srgbClr val="FFFFFF"/>
                </a:solidFill>
                <a:latin typeface="Aptos Display"/>
              </a:rPr>
              <a:t>Construisez vos
deux parcours
en 15 minutes.</a:t>
            </a:r>
          </a:p>
        </p:txBody>
      </p:sp>
      <p:sp>
        <p:nvSpPr>
          <p:cNvPr id="7" name="TextBox 6"/>
          <p:cNvSpPr txBox="1"/>
          <p:nvPr/>
        </p:nvSpPr>
        <p:spPr>
          <a:xfrm>
            <a:off x="777240" y="4270248"/>
            <a:ext cx="5212080" cy="457200"/>
          </a:xfrm>
          <a:prstGeom prst="rect">
            <a:avLst/>
          </a:prstGeom>
          <a:noFill/>
        </p:spPr>
        <p:txBody>
          <a:bodyPr wrap="square" lIns="0" rIns="0" tIns="0" bIns="0" anchor="t">
            <a:spAutoFit/>
          </a:bodyPr>
          <a:lstStyle/>
          <a:p>
            <a:pPr algn="l"/>
            <a:r>
              <a:rPr sz="1600" b="0">
                <a:solidFill>
                  <a:srgbClr val="EEF3DD"/>
                </a:solidFill>
                <a:latin typeface="Aptos"/>
              </a:rPr>
              <a:t>Scannez le QR code ou ouvrez le lien dans le chat.</a:t>
            </a:r>
          </a:p>
        </p:txBody>
      </p:sp>
      <p:sp>
        <p:nvSpPr>
          <p:cNvPr id="8" name="Rounded Rectangle 7"/>
          <p:cNvSpPr/>
          <p:nvPr/>
        </p:nvSpPr>
        <p:spPr>
          <a:xfrm>
            <a:off x="8019288" y="1060704"/>
            <a:ext cx="3273552" cy="3840480"/>
          </a:xfrm>
          <a:prstGeom prst="roundRect">
            <a:avLst/>
          </a:prstGeom>
          <a:solidFill>
            <a:srgbClr val="F7F9EC"/>
          </a:solidFill>
          <a:ln w="12700">
            <a:solidFill>
              <a:srgbClr val="C5D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94192" y="1417320"/>
            <a:ext cx="2505456" cy="2505456"/>
          </a:xfrm>
          <a:prstGeom prst="rect">
            <a:avLst/>
          </a:prstGeom>
          <a:solidFill>
            <a:srgbClr val="FFFFFF"/>
          </a:solidFill>
          <a:ln w="25400">
            <a:solidFill>
              <a:srgbClr val="647A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417320"/>
            <a:ext cx="2505456" cy="2505456"/>
          </a:xfrm>
          <a:prstGeom prst="rect">
            <a:avLst/>
          </a:prstGeom>
          <a:noFill/>
        </p:spPr>
        <p:txBody>
          <a:bodyPr wrap="square" lIns="0" rIns="0" tIns="0" bIns="0" anchor="ctr">
            <a:spAutoFit/>
          </a:bodyPr>
          <a:lstStyle/>
          <a:p>
            <a:pPr algn="ctr"/>
            <a:r>
              <a:rPr sz="1700" b="1">
                <a:solidFill>
                  <a:srgbClr val="526509"/>
                </a:solidFill>
                <a:latin typeface="Aptos"/>
              </a:rPr>
              <a:t>QR CODE
À INSÉRER</a:t>
            </a:r>
          </a:p>
        </p:txBody>
      </p:sp>
      <p:sp>
        <p:nvSpPr>
          <p:cNvPr id="11" name="TextBox 10"/>
          <p:cNvSpPr txBox="1"/>
          <p:nvPr/>
        </p:nvSpPr>
        <p:spPr>
          <a:xfrm>
            <a:off x="8257031" y="4178808"/>
            <a:ext cx="2807208" cy="310896"/>
          </a:xfrm>
          <a:prstGeom prst="rect">
            <a:avLst/>
          </a:prstGeom>
          <a:noFill/>
        </p:spPr>
        <p:txBody>
          <a:bodyPr wrap="square" lIns="0" rIns="0" tIns="0" bIns="0" anchor="t">
            <a:spAutoFit/>
          </a:bodyPr>
          <a:lstStyle/>
          <a:p>
            <a:pPr algn="ctr"/>
            <a:r>
              <a:rPr sz="1000" b="1">
                <a:solidFill>
                  <a:srgbClr val="667064"/>
                </a:solidFill>
                <a:latin typeface="Aptos"/>
              </a:rPr>
              <a:t>[URL COURTE DE LA RESSOURCE]</a:t>
            </a:r>
          </a:p>
        </p:txBody>
      </p:sp>
      <p:sp>
        <p:nvSpPr>
          <p:cNvPr id="12" name="Rounded Rectangle 11"/>
          <p:cNvSpPr/>
          <p:nvPr/>
        </p:nvSpPr>
        <p:spPr>
          <a:xfrm>
            <a:off x="768096" y="5175504"/>
            <a:ext cx="10524744" cy="859536"/>
          </a:xfrm>
          <a:prstGeom prst="roundRect">
            <a:avLst/>
          </a:prstGeom>
          <a:solidFill>
            <a:srgbClr val="EE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431536"/>
            <a:ext cx="9875520" cy="329184"/>
          </a:xfrm>
          <a:prstGeom prst="rect">
            <a:avLst/>
          </a:prstGeom>
          <a:noFill/>
        </p:spPr>
        <p:txBody>
          <a:bodyPr wrap="square" lIns="0" rIns="0" tIns="0" bIns="0" anchor="t">
            <a:spAutoFit/>
          </a:bodyPr>
          <a:lstStyle/>
          <a:p>
            <a:pPr algn="ctr"/>
            <a:r>
              <a:rPr sz="1350" b="1">
                <a:solidFill>
                  <a:srgbClr val="2F3B24"/>
                </a:solidFill>
                <a:latin typeface="Aptos"/>
              </a:rPr>
              <a:t>Votre communication crée l’attention. </a:t>
            </a:r>
            <a:r>
              <a:rPr sz="1350" b="1">
                <a:solidFill>
                  <a:srgbClr val="854F38"/>
                </a:solidFill>
                <a:latin typeface="Aptos"/>
              </a:rPr>
              <a:t>Votre offre donne une direction. </a:t>
            </a:r>
            <a:r>
              <a:rPr sz="1350" b="1">
                <a:solidFill>
                  <a:srgbClr val="526509"/>
                </a:solidFill>
                <a:latin typeface="Aptos"/>
              </a:rPr>
              <a:t>Olithea relie le reste.</a:t>
            </a:r>
          </a:p>
        </p:txBody>
      </p:sp>
      <p:sp>
        <p:nvSpPr>
          <p:cNvPr id="14" name="TextBox 13"/>
          <p:cNvSpPr txBox="1"/>
          <p:nvPr/>
        </p:nvSpPr>
        <p:spPr>
          <a:xfrm>
            <a:off x="658368" y="6537960"/>
            <a:ext cx="4297680" cy="164592"/>
          </a:xfrm>
          <a:prstGeom prst="rect">
            <a:avLst/>
          </a:prstGeom>
          <a:noFill/>
        </p:spPr>
        <p:txBody>
          <a:bodyPr wrap="square" lIns="0" rIns="0" tIns="0" bIns="0" anchor="t">
            <a:spAutoFit/>
          </a:bodyPr>
          <a:lstStyle/>
          <a:p>
            <a:pPr algn="l"/>
            <a:r>
              <a:rPr sz="850" b="1">
                <a:solidFill>
                  <a:srgbClr val="C7D0BB"/>
                </a:solidFill>
                <a:latin typeface="Aptos"/>
              </a:rPr>
              <a:t>OLITHEA  •  OFFRE &amp; PROSPECTION</a:t>
            </a:r>
          </a:p>
        </p:txBody>
      </p:sp>
      <p:sp>
        <p:nvSpPr>
          <p:cNvPr id="15" name="TextBox 14"/>
          <p:cNvSpPr txBox="1"/>
          <p:nvPr/>
        </p:nvSpPr>
        <p:spPr>
          <a:xfrm>
            <a:off x="11064240" y="6510528"/>
            <a:ext cx="457200" cy="201168"/>
          </a:xfrm>
          <a:prstGeom prst="rect">
            <a:avLst/>
          </a:prstGeom>
          <a:noFill/>
        </p:spPr>
        <p:txBody>
          <a:bodyPr wrap="square" lIns="0" rIns="0" tIns="0" bIns="0" anchor="t">
            <a:spAutoFit/>
          </a:bodyPr>
          <a:lstStyle/>
          <a:p>
            <a:pPr algn="r"/>
            <a:r>
              <a:rPr sz="900" b="1">
                <a:solidFill>
                  <a:srgbClr val="C7D0BB"/>
                </a:solidFill>
                <a:latin typeface="Aptos"/>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Une offre, deux parcours : de la découverte au rendez-vous</dc:title>
  <dc:subject>Intervention Olithea — offre et prospection pour praticiens</dc:subject>
  <dc:creator>Olithea</dc:creator>
  <cp:keywords>Olithea, offre, prospection, praticiens, tunnel de vente, newsletter</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